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x="18288000" cy="10287000"/>
  <p:notesSz cx="6858000" cy="9144000"/>
  <p:embeddedFontLst>
    <p:embeddedFont>
      <p:font typeface="Calibri (MS) Bold" charset="1" panose="020F0702030404030204"/>
      <p:regular r:id="rId18"/>
    </p:embeddedFont>
    <p:embeddedFont>
      <p:font typeface="Calibri (MS)" charset="1" panose="020F0502020204030204"/>
      <p:regular r:id="rId19"/>
    </p:embeddedFont>
    <p:embeddedFont>
      <p:font typeface="Calibri (MS) Italics" charset="1" panose="020F05020202040A0204"/>
      <p:regular r:id="rId23"/>
    </p:embeddedFont>
    <p:embeddedFont>
      <p:font typeface="Consolas" charset="1" panose="020B0609020204030204"/>
      <p:regular r:id="rId2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notesMasters/notesMaster1.xml" Type="http://schemas.openxmlformats.org/officeDocument/2006/relationships/notesMaster"/><Relationship Id="rId16" Target="theme/theme2.xml" Type="http://schemas.openxmlformats.org/officeDocument/2006/relationships/theme"/><Relationship Id="rId17" Target="notesSlides/notesSlide1.xml" Type="http://schemas.openxmlformats.org/officeDocument/2006/relationships/notesSlide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notesSlides/notesSlide2.xml" Type="http://schemas.openxmlformats.org/officeDocument/2006/relationships/notesSlide"/><Relationship Id="rId21" Target="notesSlides/notesSlide3.xml" Type="http://schemas.openxmlformats.org/officeDocument/2006/relationships/notesSlide"/><Relationship Id="rId22" Target="notesSlides/notesSlide4.xml" Type="http://schemas.openxmlformats.org/officeDocument/2006/relationships/notesSlide"/><Relationship Id="rId23" Target="fonts/font23.fntdata" Type="http://schemas.openxmlformats.org/officeDocument/2006/relationships/font"/><Relationship Id="rId24" Target="notesSlides/notesSlide5.xml" Type="http://schemas.openxmlformats.org/officeDocument/2006/relationships/notesSlide"/><Relationship Id="rId25" Target="fonts/font25.fntdata" Type="http://schemas.openxmlformats.org/officeDocument/2006/relationships/font"/><Relationship Id="rId26" Target="notesSlides/notesSlide6.xml" Type="http://schemas.openxmlformats.org/officeDocument/2006/relationships/notesSlide"/><Relationship Id="rId27" Target="notesSlides/notesSlide7.xml" Type="http://schemas.openxmlformats.org/officeDocument/2006/relationships/notesSlide"/><Relationship Id="rId28" Target="notesSlides/notesSlide8.xml" Type="http://schemas.openxmlformats.org/officeDocument/2006/relationships/notesSlide"/><Relationship Id="rId29" Target="notesSlides/notesSlide9.xml" Type="http://schemas.openxmlformats.org/officeDocument/2006/relationships/notesSlide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9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10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1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2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3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4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5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6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Relationship Id="rId3" Target="../media/image7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9.xml" Type="http://schemas.openxmlformats.org/officeDocument/2006/relationships/notesSlide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7543" cy="10287000"/>
            <a:chOff x="0" y="0"/>
            <a:chExt cx="2438339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3364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3364">
                  <a:moveTo>
                    <a:pt x="0" y="0"/>
                  </a:moveTo>
                  <a:lnTo>
                    <a:pt x="24383364" y="0"/>
                  </a:lnTo>
                  <a:lnTo>
                    <a:pt x="24383364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B1220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1234440" y="3017520"/>
            <a:ext cx="15818663" cy="1097280"/>
            <a:chOff x="0" y="0"/>
            <a:chExt cx="21091550" cy="146304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09155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091550">
                  <a:moveTo>
                    <a:pt x="0" y="0"/>
                  </a:moveTo>
                  <a:lnTo>
                    <a:pt x="21091550" y="0"/>
                  </a:lnTo>
                  <a:lnTo>
                    <a:pt x="21091550" y="1463040"/>
                  </a:lnTo>
                  <a:lnTo>
                    <a:pt x="0" y="146304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114300"/>
              <a:ext cx="21091550" cy="15773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480"/>
                </a:lnSpc>
              </a:pPr>
              <a:r>
                <a:rPr lang="en-US" sz="5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Projet : Exploitation des modules Odoo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234440" y="4251960"/>
            <a:ext cx="15818663" cy="822960"/>
            <a:chOff x="0" y="0"/>
            <a:chExt cx="21091550" cy="109728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1091550" cy="1097280"/>
            </a:xfrm>
            <a:custGeom>
              <a:avLst/>
              <a:gdLst/>
              <a:ahLst/>
              <a:cxnLst/>
              <a:rect r="r" b="b" t="t" l="l"/>
              <a:pathLst>
                <a:path h="1097280" w="21091550">
                  <a:moveTo>
                    <a:pt x="0" y="0"/>
                  </a:moveTo>
                  <a:lnTo>
                    <a:pt x="21091550" y="0"/>
                  </a:lnTo>
                  <a:lnTo>
                    <a:pt x="21091550" y="1097280"/>
                  </a:lnTo>
                  <a:lnTo>
                    <a:pt x="0" y="109728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66675"/>
              <a:ext cx="21091550" cy="11639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960"/>
                </a:lnSpc>
              </a:pPr>
              <a:r>
                <a:rPr lang="en-US" sz="3300">
                  <a:solidFill>
                    <a:srgbClr val="E2E8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Sujet : Gestion d'événements et inscriptions en ligne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234440" y="5760720"/>
            <a:ext cx="15818663" cy="27432"/>
            <a:chOff x="0" y="0"/>
            <a:chExt cx="21091550" cy="36576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1091525" cy="36576"/>
            </a:xfrm>
            <a:custGeom>
              <a:avLst/>
              <a:gdLst/>
              <a:ahLst/>
              <a:cxnLst/>
              <a:rect r="r" b="b" t="t" l="l"/>
              <a:pathLst>
                <a:path h="36576" w="21091525">
                  <a:moveTo>
                    <a:pt x="0" y="0"/>
                  </a:moveTo>
                  <a:lnTo>
                    <a:pt x="21091525" y="0"/>
                  </a:lnTo>
                  <a:lnTo>
                    <a:pt x="21091525" y="36576"/>
                  </a:lnTo>
                  <a:lnTo>
                    <a:pt x="0" y="36576"/>
                  </a:lnTo>
                  <a:close/>
                </a:path>
              </a:pathLst>
            </a:custGeom>
            <a:solidFill>
              <a:srgbClr val="334155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1234440" y="5966460"/>
            <a:ext cx="15818663" cy="548640"/>
            <a:chOff x="0" y="0"/>
            <a:chExt cx="21091550" cy="73152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1091550" cy="731520"/>
            </a:xfrm>
            <a:custGeom>
              <a:avLst/>
              <a:gdLst/>
              <a:ahLst/>
              <a:cxnLst/>
              <a:rect r="r" b="b" t="t" l="l"/>
              <a:pathLst>
                <a:path h="731520" w="21091550">
                  <a:moveTo>
                    <a:pt x="0" y="0"/>
                  </a:moveTo>
                  <a:lnTo>
                    <a:pt x="21091550" y="0"/>
                  </a:lnTo>
                  <a:lnTo>
                    <a:pt x="21091550" y="731520"/>
                  </a:lnTo>
                  <a:lnTo>
                    <a:pt x="0" y="73152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47625"/>
              <a:ext cx="2109155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CBD5E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Étudiant : AZZMAN Nor Elimane  |  Déploiement : Odoo Community + PostgreSQL via Docker Compose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0" y="9806940"/>
            <a:ext cx="18287543" cy="480060"/>
            <a:chOff x="0" y="0"/>
            <a:chExt cx="24383390" cy="64008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4383364" cy="640080"/>
            </a:xfrm>
            <a:custGeom>
              <a:avLst/>
              <a:gdLst/>
              <a:ahLst/>
              <a:cxnLst/>
              <a:rect r="r" b="b" t="t" l="l"/>
              <a:pathLst>
                <a:path h="640080" w="24383364">
                  <a:moveTo>
                    <a:pt x="0" y="0"/>
                  </a:moveTo>
                  <a:lnTo>
                    <a:pt x="24383364" y="0"/>
                  </a:lnTo>
                  <a:lnTo>
                    <a:pt x="24383364" y="640080"/>
                  </a:lnTo>
                  <a:lnTo>
                    <a:pt x="0" y="640080"/>
                  </a:lnTo>
                  <a:close/>
                </a:path>
              </a:pathLst>
            </a:custGeom>
            <a:solidFill>
              <a:srgbClr val="F1F5F9"/>
            </a:solidFill>
            <a:ln w="12700">
              <a:solidFill>
                <a:srgbClr val="000000"/>
              </a:solidFill>
            </a:ln>
          </p:spPr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7543" cy="1028700"/>
            <a:chOff x="0" y="0"/>
            <a:chExt cx="24383390" cy="13716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3364" cy="1371600"/>
            </a:xfrm>
            <a:custGeom>
              <a:avLst/>
              <a:gdLst/>
              <a:ahLst/>
              <a:cxnLst/>
              <a:rect r="r" b="b" t="t" l="l"/>
              <a:pathLst>
                <a:path h="1371600" w="24383364">
                  <a:moveTo>
                    <a:pt x="0" y="0"/>
                  </a:moveTo>
                  <a:lnTo>
                    <a:pt x="24383364" y="0"/>
                  </a:lnTo>
                  <a:lnTo>
                    <a:pt x="24383364" y="1371600"/>
                  </a:lnTo>
                  <a:lnTo>
                    <a:pt x="0" y="1371600"/>
                  </a:lnTo>
                  <a:close/>
                </a:path>
              </a:pathLst>
            </a:custGeom>
            <a:solidFill>
              <a:srgbClr val="0F172A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822960" y="246888"/>
            <a:ext cx="16641623" cy="617220"/>
            <a:chOff x="0" y="0"/>
            <a:chExt cx="22188830" cy="82296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2188830" cy="822960"/>
            </a:xfrm>
            <a:custGeom>
              <a:avLst/>
              <a:gdLst/>
              <a:ahLst/>
              <a:cxnLst/>
              <a:rect r="r" b="b" t="t" l="l"/>
              <a:pathLst>
                <a:path h="822960" w="22188830">
                  <a:moveTo>
                    <a:pt x="0" y="0"/>
                  </a:moveTo>
                  <a:lnTo>
                    <a:pt x="22188830" y="0"/>
                  </a:lnTo>
                  <a:lnTo>
                    <a:pt x="22188830" y="822960"/>
                  </a:lnTo>
                  <a:lnTo>
                    <a:pt x="0" y="82296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66675"/>
              <a:ext cx="22188830" cy="8896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960"/>
                </a:lnSpc>
              </a:pPr>
              <a:r>
                <a:rPr lang="en-US" sz="33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1. Problématique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097280" y="1440180"/>
            <a:ext cx="9875520" cy="1920240"/>
            <a:chOff x="0" y="0"/>
            <a:chExt cx="13167360" cy="256032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3167361" cy="2560320"/>
            </a:xfrm>
            <a:custGeom>
              <a:avLst/>
              <a:gdLst/>
              <a:ahLst/>
              <a:cxnLst/>
              <a:rect r="r" b="b" t="t" l="l"/>
              <a:pathLst>
                <a:path h="2560320" w="13167361">
                  <a:moveTo>
                    <a:pt x="0" y="0"/>
                  </a:moveTo>
                  <a:lnTo>
                    <a:pt x="13167361" y="0"/>
                  </a:lnTo>
                  <a:lnTo>
                    <a:pt x="13167361" y="2560320"/>
                  </a:lnTo>
                  <a:lnTo>
                    <a:pt x="0" y="256032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13167360" cy="25984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0F172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Mettre en place une solution simple pour gérer des événements (création, publication web, inscriptions en ligne, suivi des participants) pour une association/club ou un service universitaire.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097280" y="3497580"/>
            <a:ext cx="9875520" cy="548640"/>
            <a:chOff x="0" y="0"/>
            <a:chExt cx="13167360" cy="73152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3167361" cy="731520"/>
            </a:xfrm>
            <a:custGeom>
              <a:avLst/>
              <a:gdLst/>
              <a:ahLst/>
              <a:cxnLst/>
              <a:rect r="r" b="b" t="t" l="l"/>
              <a:pathLst>
                <a:path h="731520" w="13167361">
                  <a:moveTo>
                    <a:pt x="0" y="0"/>
                  </a:moveTo>
                  <a:lnTo>
                    <a:pt x="13167361" y="0"/>
                  </a:lnTo>
                  <a:lnTo>
                    <a:pt x="13167361" y="731520"/>
                  </a:lnTo>
                  <a:lnTo>
                    <a:pt x="0" y="73152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1316736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0F17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Problèmes constatés (avant Odoo) :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371600" y="4114800"/>
            <a:ext cx="9601200" cy="1920240"/>
            <a:chOff x="0" y="0"/>
            <a:chExt cx="12801600" cy="256032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2801600" cy="2560320"/>
            </a:xfrm>
            <a:custGeom>
              <a:avLst/>
              <a:gdLst/>
              <a:ahLst/>
              <a:cxnLst/>
              <a:rect r="r" b="b" t="t" l="l"/>
              <a:pathLst>
                <a:path h="2560320" w="12801600">
                  <a:moveTo>
                    <a:pt x="0" y="0"/>
                  </a:moveTo>
                  <a:lnTo>
                    <a:pt x="12801600" y="0"/>
                  </a:lnTo>
                  <a:lnTo>
                    <a:pt x="12801600" y="2560320"/>
                  </a:lnTo>
                  <a:lnTo>
                    <a:pt x="0" y="256032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47625"/>
              <a:ext cx="12801600" cy="26079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380048" indent="-190024" lvl="1">
                <a:lnSpc>
                  <a:spcPts val="2520"/>
                </a:lnSpc>
                <a:buFont typeface="Arial"/>
                <a:buChar char="•"/>
              </a:pPr>
              <a:r>
                <a:rPr lang="en-US" sz="2100">
                  <a:solidFill>
                    <a:srgbClr val="0F172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Inscriptions dispersées (e-mails, formulaires externes)</a:t>
              </a:r>
            </a:p>
            <a:p>
              <a:pPr algn="l" marL="380048" indent="-190024" lvl="1">
                <a:lnSpc>
                  <a:spcPts val="2520"/>
                </a:lnSpc>
                <a:buFont typeface="Arial"/>
                <a:buChar char="•"/>
              </a:pPr>
              <a:r>
                <a:rPr lang="en-US" sz="2100">
                  <a:solidFill>
                    <a:srgbClr val="0F172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Manque de traçabilité et de liste unique des participants</a:t>
              </a:r>
            </a:p>
            <a:p>
              <a:pPr algn="l" marL="380048" indent="-190024" lvl="1">
                <a:lnSpc>
                  <a:spcPts val="2520"/>
                </a:lnSpc>
                <a:buFont typeface="Arial"/>
                <a:buChar char="•"/>
              </a:pPr>
              <a:r>
                <a:rPr lang="en-US" sz="2100">
                  <a:solidFill>
                    <a:srgbClr val="0F172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Relances manuelles, risques d'erreurs et de doublons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1511915" y="1430655"/>
            <a:ext cx="5779770" cy="7974330"/>
            <a:chOff x="0" y="0"/>
            <a:chExt cx="7706360" cy="1063244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12700" y="12700"/>
              <a:ext cx="7680960" cy="10607040"/>
            </a:xfrm>
            <a:custGeom>
              <a:avLst/>
              <a:gdLst/>
              <a:ahLst/>
              <a:cxnLst/>
              <a:rect r="r" b="b" t="t" l="l"/>
              <a:pathLst>
                <a:path h="10607040" w="7680960">
                  <a:moveTo>
                    <a:pt x="0" y="0"/>
                  </a:moveTo>
                  <a:lnTo>
                    <a:pt x="7680960" y="0"/>
                  </a:lnTo>
                  <a:lnTo>
                    <a:pt x="7680960" y="10607040"/>
                  </a:lnTo>
                  <a:lnTo>
                    <a:pt x="0" y="10607040"/>
                  </a:lnTo>
                  <a:close/>
                </a:path>
              </a:pathLst>
            </a:custGeom>
            <a:blipFill>
              <a:blip r:embed="rId3"/>
              <a:stretch>
                <a:fillRect l="-107373" t="0" r="-107373" b="0"/>
              </a:stretch>
            </a:blipFill>
          </p:spPr>
        </p:sp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7706360" cy="10632440"/>
            </a:xfrm>
            <a:custGeom>
              <a:avLst/>
              <a:gdLst/>
              <a:ahLst/>
              <a:cxnLst/>
              <a:rect r="r" b="b" t="t" l="l"/>
              <a:pathLst>
                <a:path h="10632440" w="7706360">
                  <a:moveTo>
                    <a:pt x="12700" y="0"/>
                  </a:moveTo>
                  <a:lnTo>
                    <a:pt x="7693660" y="0"/>
                  </a:lnTo>
                  <a:cubicBezTo>
                    <a:pt x="7700645" y="0"/>
                    <a:pt x="7706360" y="5715"/>
                    <a:pt x="7706360" y="12700"/>
                  </a:cubicBezTo>
                  <a:lnTo>
                    <a:pt x="7706360" y="10619740"/>
                  </a:lnTo>
                  <a:cubicBezTo>
                    <a:pt x="7706360" y="10626725"/>
                    <a:pt x="7700645" y="10632440"/>
                    <a:pt x="7693660" y="10632440"/>
                  </a:cubicBezTo>
                  <a:lnTo>
                    <a:pt x="12700" y="10632440"/>
                  </a:lnTo>
                  <a:cubicBezTo>
                    <a:pt x="5715" y="10632440"/>
                    <a:pt x="0" y="10626725"/>
                    <a:pt x="0" y="10619740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10619740"/>
                  </a:lnTo>
                  <a:lnTo>
                    <a:pt x="12700" y="10619740"/>
                  </a:lnTo>
                  <a:lnTo>
                    <a:pt x="12700" y="10607040"/>
                  </a:lnTo>
                  <a:lnTo>
                    <a:pt x="7693660" y="10607040"/>
                  </a:lnTo>
                  <a:lnTo>
                    <a:pt x="7693660" y="10619740"/>
                  </a:lnTo>
                  <a:lnTo>
                    <a:pt x="7680960" y="10619740"/>
                  </a:lnTo>
                  <a:lnTo>
                    <a:pt x="7680960" y="12700"/>
                  </a:lnTo>
                  <a:lnTo>
                    <a:pt x="7693660" y="12700"/>
                  </a:lnTo>
                  <a:lnTo>
                    <a:pt x="7693660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94A3B8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19" id="19"/>
          <p:cNvGrpSpPr/>
          <p:nvPr/>
        </p:nvGrpSpPr>
        <p:grpSpPr>
          <a:xfrm rot="0">
            <a:off x="0" y="9806940"/>
            <a:ext cx="18287543" cy="480060"/>
            <a:chOff x="0" y="0"/>
            <a:chExt cx="24383390" cy="64008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4383364" cy="640080"/>
            </a:xfrm>
            <a:custGeom>
              <a:avLst/>
              <a:gdLst/>
              <a:ahLst/>
              <a:cxnLst/>
              <a:rect r="r" b="b" t="t" l="l"/>
              <a:pathLst>
                <a:path h="640080" w="24383364">
                  <a:moveTo>
                    <a:pt x="0" y="0"/>
                  </a:moveTo>
                  <a:lnTo>
                    <a:pt x="24383364" y="0"/>
                  </a:lnTo>
                  <a:lnTo>
                    <a:pt x="24383364" y="640080"/>
                  </a:lnTo>
                  <a:lnTo>
                    <a:pt x="0" y="640080"/>
                  </a:lnTo>
                  <a:close/>
                </a:path>
              </a:pathLst>
            </a:custGeom>
            <a:solidFill>
              <a:srgbClr val="F1F5F9"/>
            </a:solidFill>
            <a:ln w="12700">
              <a:solidFill>
                <a:srgbClr val="000000"/>
              </a:solidFill>
            </a:ln>
          </p:spPr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7543" cy="1028700"/>
            <a:chOff x="0" y="0"/>
            <a:chExt cx="24383390" cy="13716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3364" cy="1371600"/>
            </a:xfrm>
            <a:custGeom>
              <a:avLst/>
              <a:gdLst/>
              <a:ahLst/>
              <a:cxnLst/>
              <a:rect r="r" b="b" t="t" l="l"/>
              <a:pathLst>
                <a:path h="1371600" w="24383364">
                  <a:moveTo>
                    <a:pt x="0" y="0"/>
                  </a:moveTo>
                  <a:lnTo>
                    <a:pt x="24383364" y="0"/>
                  </a:lnTo>
                  <a:lnTo>
                    <a:pt x="24383364" y="1371600"/>
                  </a:lnTo>
                  <a:lnTo>
                    <a:pt x="0" y="1371600"/>
                  </a:lnTo>
                  <a:close/>
                </a:path>
              </a:pathLst>
            </a:custGeom>
            <a:solidFill>
              <a:srgbClr val="0F172A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822960" y="246888"/>
            <a:ext cx="16641623" cy="617220"/>
            <a:chOff x="0" y="0"/>
            <a:chExt cx="22188830" cy="82296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2188830" cy="822960"/>
            </a:xfrm>
            <a:custGeom>
              <a:avLst/>
              <a:gdLst/>
              <a:ahLst/>
              <a:cxnLst/>
              <a:rect r="r" b="b" t="t" l="l"/>
              <a:pathLst>
                <a:path h="822960" w="22188830">
                  <a:moveTo>
                    <a:pt x="0" y="0"/>
                  </a:moveTo>
                  <a:lnTo>
                    <a:pt x="22188830" y="0"/>
                  </a:lnTo>
                  <a:lnTo>
                    <a:pt x="22188830" y="822960"/>
                  </a:lnTo>
                  <a:lnTo>
                    <a:pt x="0" y="82296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66675"/>
              <a:ext cx="22188830" cy="8896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960"/>
                </a:lnSpc>
              </a:pPr>
              <a:r>
                <a:rPr lang="en-US" sz="33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2. Modules Odoo choisis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097280" y="1508760"/>
            <a:ext cx="8503920" cy="548640"/>
            <a:chOff x="0" y="0"/>
            <a:chExt cx="11338560" cy="73152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1338560" cy="731520"/>
            </a:xfrm>
            <a:custGeom>
              <a:avLst/>
              <a:gdLst/>
              <a:ahLst/>
              <a:cxnLst/>
              <a:rect r="r" b="b" t="t" l="l"/>
              <a:pathLst>
                <a:path h="731520" w="11338560">
                  <a:moveTo>
                    <a:pt x="0" y="0"/>
                  </a:moveTo>
                  <a:lnTo>
                    <a:pt x="11338560" y="0"/>
                  </a:lnTo>
                  <a:lnTo>
                    <a:pt x="11338560" y="731520"/>
                  </a:lnTo>
                  <a:lnTo>
                    <a:pt x="0" y="73152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1133856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0F17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Modules (Odoo Community) :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371600" y="2125980"/>
            <a:ext cx="9875520" cy="3017520"/>
            <a:chOff x="0" y="0"/>
            <a:chExt cx="13167360" cy="402336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3167361" cy="4023360"/>
            </a:xfrm>
            <a:custGeom>
              <a:avLst/>
              <a:gdLst/>
              <a:ahLst/>
              <a:cxnLst/>
              <a:rect r="r" b="b" t="t" l="l"/>
              <a:pathLst>
                <a:path h="4023360" w="13167361">
                  <a:moveTo>
                    <a:pt x="0" y="0"/>
                  </a:moveTo>
                  <a:lnTo>
                    <a:pt x="13167361" y="0"/>
                  </a:lnTo>
                  <a:lnTo>
                    <a:pt x="13167361" y="4023360"/>
                  </a:lnTo>
                  <a:lnTo>
                    <a:pt x="0" y="402336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47625"/>
              <a:ext cx="13167360" cy="40709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380048" indent="-190024" lvl="1">
                <a:lnSpc>
                  <a:spcPts val="2520"/>
                </a:lnSpc>
                <a:buFont typeface="Arial"/>
                <a:buChar char="•"/>
              </a:pPr>
              <a:r>
                <a:rPr lang="en-US" sz="2100">
                  <a:solidFill>
                    <a:srgbClr val="0F172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Events (Événements) : événements, tickets, inscriptions, participants</a:t>
              </a:r>
            </a:p>
            <a:p>
              <a:pPr algn="l" marL="380048" indent="-190024" lvl="1">
                <a:lnSpc>
                  <a:spcPts val="2520"/>
                </a:lnSpc>
                <a:buFont typeface="Arial"/>
                <a:buChar char="•"/>
              </a:pPr>
              <a:r>
                <a:rPr lang="en-US" sz="2100">
                  <a:solidFill>
                    <a:srgbClr val="0F172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Website : publication des événements et formulaire d'inscription</a:t>
              </a:r>
            </a:p>
            <a:p>
              <a:pPr algn="l" marL="380048" indent="-190024" lvl="1">
                <a:lnSpc>
                  <a:spcPts val="2520"/>
                </a:lnSpc>
                <a:buFont typeface="Arial"/>
                <a:buChar char="•"/>
              </a:pPr>
              <a:r>
                <a:rPr lang="en-US" sz="2100">
                  <a:solidFill>
                    <a:srgbClr val="0F172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Contacts : gestion des participants et contacts</a:t>
              </a:r>
            </a:p>
            <a:p>
              <a:pPr algn="l" marL="380048" indent="-190024" lvl="1">
                <a:lnSpc>
                  <a:spcPts val="2520"/>
                </a:lnSpc>
                <a:buFont typeface="Arial"/>
                <a:buChar char="•"/>
              </a:pPr>
              <a:r>
                <a:rPr lang="en-US" sz="2100">
                  <a:solidFill>
                    <a:srgbClr val="0F172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Email Marketing (optionnel) : invitations et relances</a:t>
              </a:r>
            </a:p>
            <a:p>
              <a:pPr algn="l" marL="380048" indent="-190024" lvl="1">
                <a:lnSpc>
                  <a:spcPts val="2520"/>
                </a:lnSpc>
                <a:buFont typeface="Arial"/>
                <a:buChar char="•"/>
              </a:pPr>
              <a:r>
                <a:rPr lang="en-US" sz="2100">
                  <a:solidFill>
                    <a:srgbClr val="0F172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Survey (optionnel) : satisfaction post-événement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1511915" y="1430655"/>
            <a:ext cx="5779770" cy="3859530"/>
            <a:chOff x="0" y="0"/>
            <a:chExt cx="7706360" cy="514604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12700" y="12700"/>
              <a:ext cx="7680960" cy="5120640"/>
            </a:xfrm>
            <a:custGeom>
              <a:avLst/>
              <a:gdLst/>
              <a:ahLst/>
              <a:cxnLst/>
              <a:rect r="r" b="b" t="t" l="l"/>
              <a:pathLst>
                <a:path h="5120640" w="7680960">
                  <a:moveTo>
                    <a:pt x="0" y="0"/>
                  </a:moveTo>
                  <a:lnTo>
                    <a:pt x="7680960" y="0"/>
                  </a:lnTo>
                  <a:lnTo>
                    <a:pt x="7680960" y="5120640"/>
                  </a:lnTo>
                  <a:lnTo>
                    <a:pt x="0" y="5120640"/>
                  </a:lnTo>
                  <a:close/>
                </a:path>
              </a:pathLst>
            </a:custGeom>
            <a:blipFill>
              <a:blip r:embed="rId3"/>
              <a:stretch>
                <a:fillRect l="0" t="-24710" r="0" b="-24710"/>
              </a:stretch>
            </a:blip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7706360" cy="5146040"/>
            </a:xfrm>
            <a:custGeom>
              <a:avLst/>
              <a:gdLst/>
              <a:ahLst/>
              <a:cxnLst/>
              <a:rect r="r" b="b" t="t" l="l"/>
              <a:pathLst>
                <a:path h="5146040" w="7706360">
                  <a:moveTo>
                    <a:pt x="12700" y="0"/>
                  </a:moveTo>
                  <a:lnTo>
                    <a:pt x="7693660" y="0"/>
                  </a:lnTo>
                  <a:cubicBezTo>
                    <a:pt x="7700645" y="0"/>
                    <a:pt x="7706360" y="5715"/>
                    <a:pt x="7706360" y="12700"/>
                  </a:cubicBezTo>
                  <a:lnTo>
                    <a:pt x="7706360" y="5133340"/>
                  </a:lnTo>
                  <a:cubicBezTo>
                    <a:pt x="7706360" y="5140325"/>
                    <a:pt x="7700645" y="5146040"/>
                    <a:pt x="7693660" y="5146040"/>
                  </a:cubicBezTo>
                  <a:lnTo>
                    <a:pt x="12700" y="5146040"/>
                  </a:lnTo>
                  <a:cubicBezTo>
                    <a:pt x="5715" y="5146040"/>
                    <a:pt x="0" y="5140325"/>
                    <a:pt x="0" y="5133340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5133340"/>
                  </a:lnTo>
                  <a:lnTo>
                    <a:pt x="12700" y="5133340"/>
                  </a:lnTo>
                  <a:lnTo>
                    <a:pt x="12700" y="5120640"/>
                  </a:lnTo>
                  <a:lnTo>
                    <a:pt x="7693660" y="5120640"/>
                  </a:lnTo>
                  <a:lnTo>
                    <a:pt x="7693660" y="5133340"/>
                  </a:lnTo>
                  <a:lnTo>
                    <a:pt x="7680960" y="5133340"/>
                  </a:lnTo>
                  <a:lnTo>
                    <a:pt x="7680960" y="12700"/>
                  </a:lnTo>
                  <a:lnTo>
                    <a:pt x="7693660" y="12700"/>
                  </a:lnTo>
                  <a:lnTo>
                    <a:pt x="7693660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94A3B8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16" id="16"/>
          <p:cNvGrpSpPr/>
          <p:nvPr/>
        </p:nvGrpSpPr>
        <p:grpSpPr>
          <a:xfrm rot="0">
            <a:off x="11511915" y="5545455"/>
            <a:ext cx="5779770" cy="3859530"/>
            <a:chOff x="0" y="0"/>
            <a:chExt cx="7706360" cy="514604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12700" y="12700"/>
              <a:ext cx="7680960" cy="5120640"/>
            </a:xfrm>
            <a:custGeom>
              <a:avLst/>
              <a:gdLst/>
              <a:ahLst/>
              <a:cxnLst/>
              <a:rect r="r" b="b" t="t" l="l"/>
              <a:pathLst>
                <a:path h="5120640" w="7680960">
                  <a:moveTo>
                    <a:pt x="0" y="0"/>
                  </a:moveTo>
                  <a:lnTo>
                    <a:pt x="7680960" y="0"/>
                  </a:lnTo>
                  <a:lnTo>
                    <a:pt x="7680960" y="5120640"/>
                  </a:lnTo>
                  <a:lnTo>
                    <a:pt x="0" y="5120640"/>
                  </a:ln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7706360" cy="5146040"/>
            </a:xfrm>
            <a:custGeom>
              <a:avLst/>
              <a:gdLst/>
              <a:ahLst/>
              <a:cxnLst/>
              <a:rect r="r" b="b" t="t" l="l"/>
              <a:pathLst>
                <a:path h="5146040" w="7706360">
                  <a:moveTo>
                    <a:pt x="12700" y="0"/>
                  </a:moveTo>
                  <a:lnTo>
                    <a:pt x="7693660" y="0"/>
                  </a:lnTo>
                  <a:cubicBezTo>
                    <a:pt x="7700645" y="0"/>
                    <a:pt x="7706360" y="5715"/>
                    <a:pt x="7706360" y="12700"/>
                  </a:cubicBezTo>
                  <a:lnTo>
                    <a:pt x="7706360" y="5133340"/>
                  </a:lnTo>
                  <a:cubicBezTo>
                    <a:pt x="7706360" y="5140325"/>
                    <a:pt x="7700645" y="5146040"/>
                    <a:pt x="7693660" y="5146040"/>
                  </a:cubicBezTo>
                  <a:lnTo>
                    <a:pt x="12700" y="5146040"/>
                  </a:lnTo>
                  <a:cubicBezTo>
                    <a:pt x="5715" y="5146040"/>
                    <a:pt x="0" y="5140325"/>
                    <a:pt x="0" y="5133340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5133340"/>
                  </a:lnTo>
                  <a:lnTo>
                    <a:pt x="12700" y="5133340"/>
                  </a:lnTo>
                  <a:lnTo>
                    <a:pt x="12700" y="5120640"/>
                  </a:lnTo>
                  <a:lnTo>
                    <a:pt x="7693660" y="5120640"/>
                  </a:lnTo>
                  <a:lnTo>
                    <a:pt x="7693660" y="5133340"/>
                  </a:lnTo>
                  <a:lnTo>
                    <a:pt x="7680960" y="5133340"/>
                  </a:lnTo>
                  <a:lnTo>
                    <a:pt x="7680960" y="12700"/>
                  </a:lnTo>
                  <a:lnTo>
                    <a:pt x="7693660" y="12700"/>
                  </a:lnTo>
                  <a:lnTo>
                    <a:pt x="7693660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94A3B8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19" id="19"/>
          <p:cNvGrpSpPr/>
          <p:nvPr/>
        </p:nvGrpSpPr>
        <p:grpSpPr>
          <a:xfrm rot="0">
            <a:off x="0" y="9806940"/>
            <a:ext cx="18287543" cy="480060"/>
            <a:chOff x="0" y="0"/>
            <a:chExt cx="24383390" cy="64008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4383364" cy="640080"/>
            </a:xfrm>
            <a:custGeom>
              <a:avLst/>
              <a:gdLst/>
              <a:ahLst/>
              <a:cxnLst/>
              <a:rect r="r" b="b" t="t" l="l"/>
              <a:pathLst>
                <a:path h="640080" w="24383364">
                  <a:moveTo>
                    <a:pt x="0" y="0"/>
                  </a:moveTo>
                  <a:lnTo>
                    <a:pt x="24383364" y="0"/>
                  </a:lnTo>
                  <a:lnTo>
                    <a:pt x="24383364" y="640080"/>
                  </a:lnTo>
                  <a:lnTo>
                    <a:pt x="0" y="640080"/>
                  </a:lnTo>
                  <a:close/>
                </a:path>
              </a:pathLst>
            </a:custGeom>
            <a:solidFill>
              <a:srgbClr val="F1F5F9"/>
            </a:solidFill>
            <a:ln w="12700">
              <a:solidFill>
                <a:srgbClr val="000000"/>
              </a:solidFill>
            </a:ln>
          </p:spPr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7543" cy="1028700"/>
            <a:chOff x="0" y="0"/>
            <a:chExt cx="24383390" cy="13716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3364" cy="1371600"/>
            </a:xfrm>
            <a:custGeom>
              <a:avLst/>
              <a:gdLst/>
              <a:ahLst/>
              <a:cxnLst/>
              <a:rect r="r" b="b" t="t" l="l"/>
              <a:pathLst>
                <a:path h="1371600" w="24383364">
                  <a:moveTo>
                    <a:pt x="0" y="0"/>
                  </a:moveTo>
                  <a:lnTo>
                    <a:pt x="24383364" y="0"/>
                  </a:lnTo>
                  <a:lnTo>
                    <a:pt x="24383364" y="1371600"/>
                  </a:lnTo>
                  <a:lnTo>
                    <a:pt x="0" y="1371600"/>
                  </a:lnTo>
                  <a:close/>
                </a:path>
              </a:pathLst>
            </a:custGeom>
            <a:solidFill>
              <a:srgbClr val="0F172A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822960" y="246888"/>
            <a:ext cx="16641623" cy="617220"/>
            <a:chOff x="0" y="0"/>
            <a:chExt cx="22188830" cy="82296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2188830" cy="822960"/>
            </a:xfrm>
            <a:custGeom>
              <a:avLst/>
              <a:gdLst/>
              <a:ahLst/>
              <a:cxnLst/>
              <a:rect r="r" b="b" t="t" l="l"/>
              <a:pathLst>
                <a:path h="822960" w="22188830">
                  <a:moveTo>
                    <a:pt x="0" y="0"/>
                  </a:moveTo>
                  <a:lnTo>
                    <a:pt x="22188830" y="0"/>
                  </a:lnTo>
                  <a:lnTo>
                    <a:pt x="22188830" y="822960"/>
                  </a:lnTo>
                  <a:lnTo>
                    <a:pt x="0" y="82296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66675"/>
              <a:ext cx="22188830" cy="8896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960"/>
                </a:lnSpc>
              </a:pPr>
              <a:r>
                <a:rPr lang="en-US" sz="33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3. Cahier des charges (résumé)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097280" y="1508760"/>
            <a:ext cx="9326880" cy="548640"/>
            <a:chOff x="0" y="0"/>
            <a:chExt cx="12435840" cy="73152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2435840" cy="731520"/>
            </a:xfrm>
            <a:custGeom>
              <a:avLst/>
              <a:gdLst/>
              <a:ahLst/>
              <a:cxnLst/>
              <a:rect r="r" b="b" t="t" l="l"/>
              <a:pathLst>
                <a:path h="731520" w="12435840">
                  <a:moveTo>
                    <a:pt x="0" y="0"/>
                  </a:moveTo>
                  <a:lnTo>
                    <a:pt x="12435840" y="0"/>
                  </a:lnTo>
                  <a:lnTo>
                    <a:pt x="12435840" y="731520"/>
                  </a:lnTo>
                  <a:lnTo>
                    <a:pt x="0" y="73152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1243584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0F17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Fonctionnalités attendues (extraits) :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371600" y="2125980"/>
            <a:ext cx="9875520" cy="3566160"/>
            <a:chOff x="0" y="0"/>
            <a:chExt cx="13167360" cy="475488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3167361" cy="4754880"/>
            </a:xfrm>
            <a:custGeom>
              <a:avLst/>
              <a:gdLst/>
              <a:ahLst/>
              <a:cxnLst/>
              <a:rect r="r" b="b" t="t" l="l"/>
              <a:pathLst>
                <a:path h="4754880" w="13167361">
                  <a:moveTo>
                    <a:pt x="0" y="0"/>
                  </a:moveTo>
                  <a:lnTo>
                    <a:pt x="13167361" y="0"/>
                  </a:lnTo>
                  <a:lnTo>
                    <a:pt x="13167361" y="4754880"/>
                  </a:lnTo>
                  <a:lnTo>
                    <a:pt x="0" y="475488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47625"/>
              <a:ext cx="13167360" cy="48025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380048" indent="-190024" lvl="1">
                <a:lnSpc>
                  <a:spcPts val="2520"/>
                </a:lnSpc>
                <a:buFont typeface="Arial"/>
                <a:buChar char="•"/>
              </a:pPr>
              <a:r>
                <a:rPr lang="en-US" sz="2100">
                  <a:solidFill>
                    <a:srgbClr val="0F172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Créer un événement (nom, date, lieu, description)</a:t>
              </a:r>
            </a:p>
            <a:p>
              <a:pPr algn="l" marL="380048" indent="-190024" lvl="1">
                <a:lnSpc>
                  <a:spcPts val="2520"/>
                </a:lnSpc>
                <a:buFont typeface="Arial"/>
                <a:buChar char="•"/>
              </a:pPr>
              <a:r>
                <a:rPr lang="en-US" sz="2100">
                  <a:solidFill>
                    <a:srgbClr val="0F172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Définir tickets (gratuit/payant) et capacité</a:t>
              </a:r>
            </a:p>
            <a:p>
              <a:pPr algn="l" marL="380048" indent="-190024" lvl="1">
                <a:lnSpc>
                  <a:spcPts val="2520"/>
                </a:lnSpc>
                <a:buFont typeface="Arial"/>
                <a:buChar char="•"/>
              </a:pPr>
              <a:r>
                <a:rPr lang="en-US" sz="2100">
                  <a:solidFill>
                    <a:srgbClr val="0F172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Publier l'événement sur le site web</a:t>
              </a:r>
            </a:p>
            <a:p>
              <a:pPr algn="l" marL="380048" indent="-190024" lvl="1">
                <a:lnSpc>
                  <a:spcPts val="2520"/>
                </a:lnSpc>
                <a:buFont typeface="Arial"/>
                <a:buChar char="•"/>
              </a:pPr>
              <a:r>
                <a:rPr lang="en-US" sz="2100">
                  <a:solidFill>
                    <a:srgbClr val="0F172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Permettre inscription en ligne et stocker les participants</a:t>
              </a:r>
            </a:p>
            <a:p>
              <a:pPr algn="l" marL="380048" indent="-190024" lvl="1">
                <a:lnSpc>
                  <a:spcPts val="2520"/>
                </a:lnSpc>
                <a:buFont typeface="Arial"/>
                <a:buChar char="•"/>
              </a:pPr>
              <a:r>
                <a:rPr lang="en-US" sz="2100">
                  <a:solidFill>
                    <a:srgbClr val="0F172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Consulter/exporter la liste des participants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097280" y="5966460"/>
            <a:ext cx="10012680" cy="960120"/>
            <a:chOff x="0" y="0"/>
            <a:chExt cx="13350240" cy="128016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3350239" cy="1280160"/>
            </a:xfrm>
            <a:custGeom>
              <a:avLst/>
              <a:gdLst/>
              <a:ahLst/>
              <a:cxnLst/>
              <a:rect r="r" b="b" t="t" l="l"/>
              <a:pathLst>
                <a:path h="1280160" w="13350239">
                  <a:moveTo>
                    <a:pt x="0" y="0"/>
                  </a:moveTo>
                  <a:lnTo>
                    <a:pt x="13350239" y="0"/>
                  </a:lnTo>
                  <a:lnTo>
                    <a:pt x="13350239" y="1280160"/>
                  </a:lnTo>
                  <a:lnTo>
                    <a:pt x="0" y="128016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47625"/>
              <a:ext cx="13350240" cy="13277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33415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Contraintes : Docker (reproductible), volumes (données persistantes), accès via navigateur.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1109960" y="1577340"/>
            <a:ext cx="5212080" cy="411480"/>
            <a:chOff x="0" y="0"/>
            <a:chExt cx="6949440" cy="54864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6949440" cy="548640"/>
            </a:xfrm>
            <a:custGeom>
              <a:avLst/>
              <a:gdLst/>
              <a:ahLst/>
              <a:cxnLst/>
              <a:rect r="r" b="b" t="t" l="l"/>
              <a:pathLst>
                <a:path h="548640" w="6949440">
                  <a:moveTo>
                    <a:pt x="0" y="0"/>
                  </a:moveTo>
                  <a:lnTo>
                    <a:pt x="6949440" y="0"/>
                  </a:lnTo>
                  <a:lnTo>
                    <a:pt x="6949440" y="548640"/>
                  </a:lnTo>
                  <a:lnTo>
                    <a:pt x="0" y="54864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694944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i="true">
                  <a:solidFill>
                    <a:srgbClr val="64748B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Capture : tableau exigences (dans le rapport)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0" y="9806940"/>
            <a:ext cx="18287543" cy="480060"/>
            <a:chOff x="0" y="0"/>
            <a:chExt cx="24383390" cy="64008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4383364" cy="640080"/>
            </a:xfrm>
            <a:custGeom>
              <a:avLst/>
              <a:gdLst/>
              <a:ahLst/>
              <a:cxnLst/>
              <a:rect r="r" b="b" t="t" l="l"/>
              <a:pathLst>
                <a:path h="640080" w="24383364">
                  <a:moveTo>
                    <a:pt x="0" y="0"/>
                  </a:moveTo>
                  <a:lnTo>
                    <a:pt x="24383364" y="0"/>
                  </a:lnTo>
                  <a:lnTo>
                    <a:pt x="24383364" y="640080"/>
                  </a:lnTo>
                  <a:lnTo>
                    <a:pt x="0" y="640080"/>
                  </a:lnTo>
                  <a:close/>
                </a:path>
              </a:pathLst>
            </a:custGeom>
            <a:solidFill>
              <a:srgbClr val="F1F5F9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Freeform 21" id="21"/>
          <p:cNvSpPr/>
          <p:nvPr/>
        </p:nvSpPr>
        <p:spPr>
          <a:xfrm flipH="false" flipV="false" rot="0">
            <a:off x="8263751" y="2217568"/>
            <a:ext cx="9801025" cy="3748892"/>
          </a:xfrm>
          <a:custGeom>
            <a:avLst/>
            <a:gdLst/>
            <a:ahLst/>
            <a:cxnLst/>
            <a:rect r="r" b="b" t="t" l="l"/>
            <a:pathLst>
              <a:path h="3748892" w="9801025">
                <a:moveTo>
                  <a:pt x="0" y="0"/>
                </a:moveTo>
                <a:lnTo>
                  <a:pt x="9801025" y="0"/>
                </a:lnTo>
                <a:lnTo>
                  <a:pt x="9801025" y="3748892"/>
                </a:lnTo>
                <a:lnTo>
                  <a:pt x="0" y="374889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7543" cy="1028700"/>
            <a:chOff x="0" y="0"/>
            <a:chExt cx="24383390" cy="13716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3364" cy="1371600"/>
            </a:xfrm>
            <a:custGeom>
              <a:avLst/>
              <a:gdLst/>
              <a:ahLst/>
              <a:cxnLst/>
              <a:rect r="r" b="b" t="t" l="l"/>
              <a:pathLst>
                <a:path h="1371600" w="24383364">
                  <a:moveTo>
                    <a:pt x="0" y="0"/>
                  </a:moveTo>
                  <a:lnTo>
                    <a:pt x="24383364" y="0"/>
                  </a:lnTo>
                  <a:lnTo>
                    <a:pt x="24383364" y="1371600"/>
                  </a:lnTo>
                  <a:lnTo>
                    <a:pt x="0" y="1371600"/>
                  </a:lnTo>
                  <a:close/>
                </a:path>
              </a:pathLst>
            </a:custGeom>
            <a:solidFill>
              <a:srgbClr val="0F172A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822960" y="246888"/>
            <a:ext cx="16641623" cy="617220"/>
            <a:chOff x="0" y="0"/>
            <a:chExt cx="22188830" cy="82296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2188830" cy="822960"/>
            </a:xfrm>
            <a:custGeom>
              <a:avLst/>
              <a:gdLst/>
              <a:ahLst/>
              <a:cxnLst/>
              <a:rect r="r" b="b" t="t" l="l"/>
              <a:pathLst>
                <a:path h="822960" w="22188830">
                  <a:moveTo>
                    <a:pt x="0" y="0"/>
                  </a:moveTo>
                  <a:lnTo>
                    <a:pt x="22188830" y="0"/>
                  </a:lnTo>
                  <a:lnTo>
                    <a:pt x="22188830" y="822960"/>
                  </a:lnTo>
                  <a:lnTo>
                    <a:pt x="0" y="82296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66675"/>
              <a:ext cx="22188830" cy="8896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960"/>
                </a:lnSpc>
              </a:pPr>
              <a:r>
                <a:rPr lang="en-US" sz="33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4. Architecture &amp; déploiement Docker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097280" y="1508760"/>
            <a:ext cx="8778240" cy="548640"/>
            <a:chOff x="0" y="0"/>
            <a:chExt cx="11704320" cy="73152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1704320" cy="731520"/>
            </a:xfrm>
            <a:custGeom>
              <a:avLst/>
              <a:gdLst/>
              <a:ahLst/>
              <a:cxnLst/>
              <a:rect r="r" b="b" t="t" l="l"/>
              <a:pathLst>
                <a:path h="731520" w="11704320">
                  <a:moveTo>
                    <a:pt x="0" y="0"/>
                  </a:moveTo>
                  <a:lnTo>
                    <a:pt x="11704320" y="0"/>
                  </a:lnTo>
                  <a:lnTo>
                    <a:pt x="11704320" y="731520"/>
                  </a:lnTo>
                  <a:lnTo>
                    <a:pt x="0" y="73152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1170432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0F17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Architecture (2 conteneurs) :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371600" y="2125980"/>
            <a:ext cx="10149840" cy="2331720"/>
            <a:chOff x="0" y="0"/>
            <a:chExt cx="13533120" cy="310896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3533120" cy="3108960"/>
            </a:xfrm>
            <a:custGeom>
              <a:avLst/>
              <a:gdLst/>
              <a:ahLst/>
              <a:cxnLst/>
              <a:rect r="r" b="b" t="t" l="l"/>
              <a:pathLst>
                <a:path h="3108960" w="13533120">
                  <a:moveTo>
                    <a:pt x="0" y="0"/>
                  </a:moveTo>
                  <a:lnTo>
                    <a:pt x="13533120" y="0"/>
                  </a:lnTo>
                  <a:lnTo>
                    <a:pt x="13533120" y="3108960"/>
                  </a:lnTo>
                  <a:lnTo>
                    <a:pt x="0" y="310896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47625"/>
              <a:ext cx="13533120" cy="31565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380048" indent="-190024" lvl="1">
                <a:lnSpc>
                  <a:spcPts val="2520"/>
                </a:lnSpc>
                <a:buFont typeface="Arial"/>
                <a:buChar char="•"/>
              </a:pPr>
              <a:r>
                <a:rPr lang="en-US" sz="2100">
                  <a:solidFill>
                    <a:srgbClr val="0F172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web : Odoo (port 8069)</a:t>
              </a:r>
            </a:p>
            <a:p>
              <a:pPr algn="l" marL="380048" indent="-190024" lvl="1">
                <a:lnSpc>
                  <a:spcPts val="2520"/>
                </a:lnSpc>
                <a:buFont typeface="Arial"/>
                <a:buChar char="•"/>
              </a:pPr>
              <a:r>
                <a:rPr lang="en-US" sz="2100">
                  <a:solidFill>
                    <a:srgbClr val="0F172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db : PostgreSQL (port interne 5432)</a:t>
              </a:r>
            </a:p>
            <a:p>
              <a:pPr algn="l" marL="380048" indent="-190024" lvl="1">
                <a:lnSpc>
                  <a:spcPts val="2520"/>
                </a:lnSpc>
                <a:buFont typeface="Arial"/>
                <a:buChar char="•"/>
              </a:pPr>
              <a:r>
                <a:rPr lang="en-US" sz="2100">
                  <a:solidFill>
                    <a:srgbClr val="0F172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volumes : odoo-web-data + odoo-db-data</a:t>
              </a:r>
            </a:p>
            <a:p>
              <a:pPr algn="l" marL="380048" indent="-190024" lvl="1">
                <a:lnSpc>
                  <a:spcPts val="2520"/>
                </a:lnSpc>
                <a:buFont typeface="Arial"/>
                <a:buChar char="•"/>
              </a:pPr>
              <a:r>
                <a:rPr lang="en-US" sz="2100">
                  <a:solidFill>
                    <a:srgbClr val="0F172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config : odoo.conf monté dans /etc/odoo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087755" y="4791075"/>
            <a:ext cx="10443210" cy="3036570"/>
            <a:chOff x="0" y="0"/>
            <a:chExt cx="13924280" cy="404876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12700" y="12700"/>
              <a:ext cx="13898880" cy="4023360"/>
            </a:xfrm>
            <a:custGeom>
              <a:avLst/>
              <a:gdLst/>
              <a:ahLst/>
              <a:cxnLst/>
              <a:rect r="r" b="b" t="t" l="l"/>
              <a:pathLst>
                <a:path h="4023360" w="13898880">
                  <a:moveTo>
                    <a:pt x="0" y="0"/>
                  </a:moveTo>
                  <a:lnTo>
                    <a:pt x="13898880" y="0"/>
                  </a:lnTo>
                  <a:lnTo>
                    <a:pt x="13898880" y="4023360"/>
                  </a:lnTo>
                  <a:lnTo>
                    <a:pt x="0" y="4023360"/>
                  </a:lnTo>
                  <a:close/>
                </a:path>
              </a:pathLst>
            </a:custGeom>
            <a:solidFill>
              <a:srgbClr val="F8FAFC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3924280" cy="4048760"/>
            </a:xfrm>
            <a:custGeom>
              <a:avLst/>
              <a:gdLst/>
              <a:ahLst/>
              <a:cxnLst/>
              <a:rect r="r" b="b" t="t" l="l"/>
              <a:pathLst>
                <a:path h="4048760" w="13924280">
                  <a:moveTo>
                    <a:pt x="12700" y="0"/>
                  </a:moveTo>
                  <a:lnTo>
                    <a:pt x="13911580" y="0"/>
                  </a:lnTo>
                  <a:cubicBezTo>
                    <a:pt x="13918566" y="0"/>
                    <a:pt x="13924280" y="5715"/>
                    <a:pt x="13924280" y="12700"/>
                  </a:cubicBezTo>
                  <a:lnTo>
                    <a:pt x="13924280" y="4036060"/>
                  </a:lnTo>
                  <a:cubicBezTo>
                    <a:pt x="13924280" y="4043045"/>
                    <a:pt x="13918566" y="4048760"/>
                    <a:pt x="13911580" y="4048760"/>
                  </a:cubicBezTo>
                  <a:lnTo>
                    <a:pt x="12700" y="4048760"/>
                  </a:lnTo>
                  <a:cubicBezTo>
                    <a:pt x="5715" y="4048760"/>
                    <a:pt x="0" y="4043045"/>
                    <a:pt x="0" y="4036060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4036060"/>
                  </a:lnTo>
                  <a:lnTo>
                    <a:pt x="12700" y="4036060"/>
                  </a:lnTo>
                  <a:lnTo>
                    <a:pt x="12700" y="4023360"/>
                  </a:lnTo>
                  <a:lnTo>
                    <a:pt x="13911580" y="4023360"/>
                  </a:lnTo>
                  <a:lnTo>
                    <a:pt x="13911580" y="4036060"/>
                  </a:lnTo>
                  <a:lnTo>
                    <a:pt x="13898880" y="4036060"/>
                  </a:lnTo>
                  <a:lnTo>
                    <a:pt x="13898880" y="12700"/>
                  </a:lnTo>
                  <a:lnTo>
                    <a:pt x="13911580" y="12700"/>
                  </a:lnTo>
                  <a:lnTo>
                    <a:pt x="13911580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CBD5E1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16" id="16"/>
          <p:cNvGrpSpPr/>
          <p:nvPr/>
        </p:nvGrpSpPr>
        <p:grpSpPr>
          <a:xfrm rot="0">
            <a:off x="1371600" y="5006340"/>
            <a:ext cx="10149840" cy="411480"/>
            <a:chOff x="0" y="0"/>
            <a:chExt cx="13533120" cy="54864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3533120" cy="548640"/>
            </a:xfrm>
            <a:custGeom>
              <a:avLst/>
              <a:gdLst/>
              <a:ahLst/>
              <a:cxnLst/>
              <a:rect r="r" b="b" t="t" l="l"/>
              <a:pathLst>
                <a:path h="548640" w="13533120">
                  <a:moveTo>
                    <a:pt x="0" y="0"/>
                  </a:moveTo>
                  <a:lnTo>
                    <a:pt x="13533120" y="0"/>
                  </a:lnTo>
                  <a:lnTo>
                    <a:pt x="13533120" y="548640"/>
                  </a:lnTo>
                  <a:lnTo>
                    <a:pt x="0" y="54864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1353312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0F17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docker-compose.yml (extrait)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371600" y="5486400"/>
            <a:ext cx="10149840" cy="2057400"/>
            <a:chOff x="0" y="0"/>
            <a:chExt cx="13533120" cy="27432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3533120" cy="2743200"/>
            </a:xfrm>
            <a:custGeom>
              <a:avLst/>
              <a:gdLst/>
              <a:ahLst/>
              <a:cxnLst/>
              <a:rect r="r" b="b" t="t" l="l"/>
              <a:pathLst>
                <a:path h="2743200" w="13533120">
                  <a:moveTo>
                    <a:pt x="0" y="0"/>
                  </a:moveTo>
                  <a:lnTo>
                    <a:pt x="13533120" y="0"/>
                  </a:lnTo>
                  <a:lnTo>
                    <a:pt x="13533120" y="2743200"/>
                  </a:lnTo>
                  <a:lnTo>
                    <a:pt x="0" y="27432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0" y="-38100"/>
              <a:ext cx="13533120" cy="2781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0F172A"/>
                  </a:solidFill>
                  <a:latin typeface="Consolas"/>
                  <a:ea typeface="Consolas"/>
                  <a:cs typeface="Consolas"/>
                  <a:sym typeface="Consolas"/>
                </a:rPr>
                <a:t>services:</a:t>
              </a:r>
            </a:p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0F172A"/>
                  </a:solidFill>
                  <a:latin typeface="Consolas"/>
                  <a:ea typeface="Consolas"/>
                  <a:cs typeface="Consolas"/>
                  <a:sym typeface="Consolas"/>
                </a:rPr>
                <a:t>  web: image: odoo:18.0</a:t>
              </a:r>
            </a:p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0F172A"/>
                  </a:solidFill>
                  <a:latin typeface="Consolas"/>
                  <a:ea typeface="Consolas"/>
                  <a:cs typeface="Consolas"/>
                  <a:sym typeface="Consolas"/>
                </a:rPr>
                <a:t>  db:  image: postgres:15</a:t>
              </a:r>
            </a:p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0F172A"/>
                  </a:solidFill>
                  <a:latin typeface="Consolas"/>
                  <a:ea typeface="Consolas"/>
                  <a:cs typeface="Consolas"/>
                  <a:sym typeface="Consolas"/>
                </a:rPr>
                <a:t>ports: 8069:8069</a:t>
              </a:r>
            </a:p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0F172A"/>
                  </a:solidFill>
                  <a:latin typeface="Consolas"/>
                  <a:ea typeface="Consolas"/>
                  <a:cs typeface="Consolas"/>
                  <a:sym typeface="Consolas"/>
                </a:rPr>
                <a:t>volumes: odoo-web-data, odoo-db-data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0" y="9806940"/>
            <a:ext cx="18287543" cy="480060"/>
            <a:chOff x="0" y="0"/>
            <a:chExt cx="24383390" cy="64008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4383364" cy="640080"/>
            </a:xfrm>
            <a:custGeom>
              <a:avLst/>
              <a:gdLst/>
              <a:ahLst/>
              <a:cxnLst/>
              <a:rect r="r" b="b" t="t" l="l"/>
              <a:pathLst>
                <a:path h="640080" w="24383364">
                  <a:moveTo>
                    <a:pt x="0" y="0"/>
                  </a:moveTo>
                  <a:lnTo>
                    <a:pt x="24383364" y="0"/>
                  </a:lnTo>
                  <a:lnTo>
                    <a:pt x="24383364" y="640080"/>
                  </a:lnTo>
                  <a:lnTo>
                    <a:pt x="0" y="640080"/>
                  </a:lnTo>
                  <a:close/>
                </a:path>
              </a:pathLst>
            </a:custGeom>
            <a:solidFill>
              <a:srgbClr val="F1F5F9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Freeform 24" id="24"/>
          <p:cNvSpPr/>
          <p:nvPr/>
        </p:nvSpPr>
        <p:spPr>
          <a:xfrm flipH="false" flipV="false" rot="0">
            <a:off x="1371600" y="7894320"/>
            <a:ext cx="15008720" cy="1857329"/>
          </a:xfrm>
          <a:custGeom>
            <a:avLst/>
            <a:gdLst/>
            <a:ahLst/>
            <a:cxnLst/>
            <a:rect r="r" b="b" t="t" l="l"/>
            <a:pathLst>
              <a:path h="1857329" w="15008720">
                <a:moveTo>
                  <a:pt x="0" y="0"/>
                </a:moveTo>
                <a:lnTo>
                  <a:pt x="15008720" y="0"/>
                </a:lnTo>
                <a:lnTo>
                  <a:pt x="15008720" y="1857329"/>
                </a:lnTo>
                <a:lnTo>
                  <a:pt x="0" y="185732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7543" cy="1028700"/>
            <a:chOff x="0" y="0"/>
            <a:chExt cx="24383390" cy="13716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3364" cy="1371600"/>
            </a:xfrm>
            <a:custGeom>
              <a:avLst/>
              <a:gdLst/>
              <a:ahLst/>
              <a:cxnLst/>
              <a:rect r="r" b="b" t="t" l="l"/>
              <a:pathLst>
                <a:path h="1371600" w="24383364">
                  <a:moveTo>
                    <a:pt x="0" y="0"/>
                  </a:moveTo>
                  <a:lnTo>
                    <a:pt x="24383364" y="0"/>
                  </a:lnTo>
                  <a:lnTo>
                    <a:pt x="24383364" y="1371600"/>
                  </a:lnTo>
                  <a:lnTo>
                    <a:pt x="0" y="1371600"/>
                  </a:lnTo>
                  <a:close/>
                </a:path>
              </a:pathLst>
            </a:custGeom>
            <a:solidFill>
              <a:srgbClr val="0F172A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822960" y="246888"/>
            <a:ext cx="16641623" cy="617220"/>
            <a:chOff x="0" y="0"/>
            <a:chExt cx="22188830" cy="82296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2188830" cy="822960"/>
            </a:xfrm>
            <a:custGeom>
              <a:avLst/>
              <a:gdLst/>
              <a:ahLst/>
              <a:cxnLst/>
              <a:rect r="r" b="b" t="t" l="l"/>
              <a:pathLst>
                <a:path h="822960" w="22188830">
                  <a:moveTo>
                    <a:pt x="0" y="0"/>
                  </a:moveTo>
                  <a:lnTo>
                    <a:pt x="22188830" y="0"/>
                  </a:lnTo>
                  <a:lnTo>
                    <a:pt x="22188830" y="822960"/>
                  </a:lnTo>
                  <a:lnTo>
                    <a:pt x="0" y="82296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66675"/>
              <a:ext cx="22188830" cy="8896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960"/>
                </a:lnSpc>
              </a:pPr>
              <a:r>
                <a:rPr lang="en-US" sz="33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6. Réalisation : création et publication d'un événement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097280" y="1508760"/>
            <a:ext cx="10424160" cy="548640"/>
            <a:chOff x="0" y="0"/>
            <a:chExt cx="13898880" cy="73152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3898880" cy="731520"/>
            </a:xfrm>
            <a:custGeom>
              <a:avLst/>
              <a:gdLst/>
              <a:ahLst/>
              <a:cxnLst/>
              <a:rect r="r" b="b" t="t" l="l"/>
              <a:pathLst>
                <a:path h="731520" w="13898880">
                  <a:moveTo>
                    <a:pt x="0" y="0"/>
                  </a:moveTo>
                  <a:lnTo>
                    <a:pt x="13898880" y="0"/>
                  </a:lnTo>
                  <a:lnTo>
                    <a:pt x="13898880" y="731520"/>
                  </a:lnTo>
                  <a:lnTo>
                    <a:pt x="0" y="73152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1389888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0F17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Scénario : Journée Portes Ouvertes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371600" y="2125980"/>
            <a:ext cx="10698480" cy="1920240"/>
            <a:chOff x="0" y="0"/>
            <a:chExt cx="14264640" cy="256032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4264639" cy="2560320"/>
            </a:xfrm>
            <a:custGeom>
              <a:avLst/>
              <a:gdLst/>
              <a:ahLst/>
              <a:cxnLst/>
              <a:rect r="r" b="b" t="t" l="l"/>
              <a:pathLst>
                <a:path h="2560320" w="14264639">
                  <a:moveTo>
                    <a:pt x="0" y="0"/>
                  </a:moveTo>
                  <a:lnTo>
                    <a:pt x="14264639" y="0"/>
                  </a:lnTo>
                  <a:lnTo>
                    <a:pt x="14264639" y="2560320"/>
                  </a:lnTo>
                  <a:lnTo>
                    <a:pt x="0" y="256032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47625"/>
              <a:ext cx="14264640" cy="26079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380048" indent="-190024" lvl="1">
                <a:lnSpc>
                  <a:spcPts val="2520"/>
                </a:lnSpc>
                <a:buFont typeface="Arial"/>
                <a:buChar char="•"/>
              </a:pPr>
              <a:r>
                <a:rPr lang="en-US" sz="2100">
                  <a:solidFill>
                    <a:srgbClr val="0F172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Events &gt; Create : nom, dates, lieu, description</a:t>
              </a:r>
            </a:p>
            <a:p>
              <a:pPr algn="l" marL="380048" indent="-190024" lvl="1">
                <a:lnSpc>
                  <a:spcPts val="2520"/>
                </a:lnSpc>
                <a:buFont typeface="Arial"/>
                <a:buChar char="•"/>
              </a:pPr>
              <a:r>
                <a:rPr lang="en-US" sz="2100">
                  <a:solidFill>
                    <a:srgbClr val="0F172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Tickets : gratuit (0€) + option VIP</a:t>
              </a:r>
            </a:p>
            <a:p>
              <a:pPr algn="l" marL="380048" indent="-190024" lvl="1">
                <a:lnSpc>
                  <a:spcPts val="2520"/>
                </a:lnSpc>
                <a:buFont typeface="Arial"/>
                <a:buChar char="•"/>
              </a:pPr>
              <a:r>
                <a:rPr lang="en-US" sz="2100">
                  <a:solidFill>
                    <a:srgbClr val="0F172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Publier : bouton Publish (page web)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0149840" y="4389120"/>
            <a:ext cx="6858000" cy="411480"/>
            <a:chOff x="0" y="0"/>
            <a:chExt cx="9144000" cy="54864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91440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548640"/>
                  </a:lnTo>
                  <a:lnTo>
                    <a:pt x="0" y="54864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91440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i="true">
                  <a:solidFill>
                    <a:srgbClr val="64748B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Capture : page web de l'événement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0149840" y="6549390"/>
            <a:ext cx="6858000" cy="548640"/>
            <a:chOff x="0" y="0"/>
            <a:chExt cx="9144000" cy="73152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9144000" cy="731520"/>
            </a:xfrm>
            <a:custGeom>
              <a:avLst/>
              <a:gdLst/>
              <a:ahLst/>
              <a:cxnLst/>
              <a:rect r="r" b="b" t="t" l="l"/>
              <a:pathLst>
                <a:path h="73152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731520"/>
                  </a:lnTo>
                  <a:lnTo>
                    <a:pt x="0" y="73152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-47625"/>
              <a:ext cx="914400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>
                  <a:solidFill>
                    <a:srgbClr val="94A3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Insérer ici votre capture d'écran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0" y="9806940"/>
            <a:ext cx="18287543" cy="480060"/>
            <a:chOff x="0" y="0"/>
            <a:chExt cx="24383390" cy="64008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4383364" cy="640080"/>
            </a:xfrm>
            <a:custGeom>
              <a:avLst/>
              <a:gdLst/>
              <a:ahLst/>
              <a:cxnLst/>
              <a:rect r="r" b="b" t="t" l="l"/>
              <a:pathLst>
                <a:path h="640080" w="24383364">
                  <a:moveTo>
                    <a:pt x="0" y="0"/>
                  </a:moveTo>
                  <a:lnTo>
                    <a:pt x="24383364" y="0"/>
                  </a:lnTo>
                  <a:lnTo>
                    <a:pt x="24383364" y="640080"/>
                  </a:lnTo>
                  <a:lnTo>
                    <a:pt x="0" y="640080"/>
                  </a:lnTo>
                  <a:close/>
                </a:path>
              </a:pathLst>
            </a:custGeom>
            <a:solidFill>
              <a:srgbClr val="F1F5F9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Freeform 21" id="21"/>
          <p:cNvSpPr/>
          <p:nvPr/>
        </p:nvSpPr>
        <p:spPr>
          <a:xfrm flipH="false" flipV="false" rot="0">
            <a:off x="2612963" y="3773796"/>
            <a:ext cx="13061617" cy="5551187"/>
          </a:xfrm>
          <a:custGeom>
            <a:avLst/>
            <a:gdLst/>
            <a:ahLst/>
            <a:cxnLst/>
            <a:rect r="r" b="b" t="t" l="l"/>
            <a:pathLst>
              <a:path h="5551187" w="13061617">
                <a:moveTo>
                  <a:pt x="0" y="0"/>
                </a:moveTo>
                <a:lnTo>
                  <a:pt x="13061617" y="0"/>
                </a:lnTo>
                <a:lnTo>
                  <a:pt x="13061617" y="5551188"/>
                </a:lnTo>
                <a:lnTo>
                  <a:pt x="0" y="555118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7543" cy="1028700"/>
            <a:chOff x="0" y="0"/>
            <a:chExt cx="24383390" cy="13716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3364" cy="1371600"/>
            </a:xfrm>
            <a:custGeom>
              <a:avLst/>
              <a:gdLst/>
              <a:ahLst/>
              <a:cxnLst/>
              <a:rect r="r" b="b" t="t" l="l"/>
              <a:pathLst>
                <a:path h="1371600" w="24383364">
                  <a:moveTo>
                    <a:pt x="0" y="0"/>
                  </a:moveTo>
                  <a:lnTo>
                    <a:pt x="24383364" y="0"/>
                  </a:lnTo>
                  <a:lnTo>
                    <a:pt x="24383364" y="1371600"/>
                  </a:lnTo>
                  <a:lnTo>
                    <a:pt x="0" y="1371600"/>
                  </a:lnTo>
                  <a:close/>
                </a:path>
              </a:pathLst>
            </a:custGeom>
            <a:solidFill>
              <a:srgbClr val="0F172A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822960" y="246888"/>
            <a:ext cx="16641623" cy="617220"/>
            <a:chOff x="0" y="0"/>
            <a:chExt cx="22188830" cy="82296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2188830" cy="822960"/>
            </a:xfrm>
            <a:custGeom>
              <a:avLst/>
              <a:gdLst/>
              <a:ahLst/>
              <a:cxnLst/>
              <a:rect r="r" b="b" t="t" l="l"/>
              <a:pathLst>
                <a:path h="822960" w="22188830">
                  <a:moveTo>
                    <a:pt x="0" y="0"/>
                  </a:moveTo>
                  <a:lnTo>
                    <a:pt x="22188830" y="0"/>
                  </a:lnTo>
                  <a:lnTo>
                    <a:pt x="22188830" y="822960"/>
                  </a:lnTo>
                  <a:lnTo>
                    <a:pt x="0" y="82296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66675"/>
              <a:ext cx="22188830" cy="8896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960"/>
                </a:lnSpc>
              </a:pPr>
              <a:r>
                <a:rPr lang="en-US" sz="33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7. Réalisation : inscription en ligne &amp; suivi des participants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097280" y="1508760"/>
            <a:ext cx="8503920" cy="548640"/>
            <a:chOff x="0" y="0"/>
            <a:chExt cx="11338560" cy="73152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1338560" cy="731520"/>
            </a:xfrm>
            <a:custGeom>
              <a:avLst/>
              <a:gdLst/>
              <a:ahLst/>
              <a:cxnLst/>
              <a:rect r="r" b="b" t="t" l="l"/>
              <a:pathLst>
                <a:path h="731520" w="11338560">
                  <a:moveTo>
                    <a:pt x="0" y="0"/>
                  </a:moveTo>
                  <a:lnTo>
                    <a:pt x="11338560" y="0"/>
                  </a:lnTo>
                  <a:lnTo>
                    <a:pt x="11338560" y="731520"/>
                  </a:lnTo>
                  <a:lnTo>
                    <a:pt x="0" y="73152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1133856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0F17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Parcours participant :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371600" y="2125980"/>
            <a:ext cx="10149840" cy="2468880"/>
            <a:chOff x="0" y="0"/>
            <a:chExt cx="13533120" cy="329184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3533120" cy="3291840"/>
            </a:xfrm>
            <a:custGeom>
              <a:avLst/>
              <a:gdLst/>
              <a:ahLst/>
              <a:cxnLst/>
              <a:rect r="r" b="b" t="t" l="l"/>
              <a:pathLst>
                <a:path h="3291840" w="13533120">
                  <a:moveTo>
                    <a:pt x="0" y="0"/>
                  </a:moveTo>
                  <a:lnTo>
                    <a:pt x="13533120" y="0"/>
                  </a:lnTo>
                  <a:lnTo>
                    <a:pt x="13533120" y="3291840"/>
                  </a:lnTo>
                  <a:lnTo>
                    <a:pt x="0" y="329184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47625"/>
              <a:ext cx="13533120" cy="33394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380048" indent="-190024" lvl="1">
                <a:lnSpc>
                  <a:spcPts val="2520"/>
                </a:lnSpc>
                <a:buFont typeface="Arial"/>
                <a:buChar char="•"/>
              </a:pPr>
              <a:r>
                <a:rPr lang="en-US" sz="2100">
                  <a:solidFill>
                    <a:srgbClr val="0F172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Ouvrir la page web de l'événement</a:t>
              </a:r>
            </a:p>
            <a:p>
              <a:pPr algn="l" marL="380048" indent="-190024" lvl="1">
                <a:lnSpc>
                  <a:spcPts val="2520"/>
                </a:lnSpc>
                <a:buFont typeface="Arial"/>
                <a:buChar char="•"/>
              </a:pPr>
              <a:r>
                <a:rPr lang="en-US" sz="2100">
                  <a:solidFill>
                    <a:srgbClr val="0F172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Cliquer Register / S'inscrire</a:t>
              </a:r>
            </a:p>
            <a:p>
              <a:pPr algn="l" marL="380048" indent="-190024" lvl="1">
                <a:lnSpc>
                  <a:spcPts val="2520"/>
                </a:lnSpc>
                <a:buFont typeface="Arial"/>
                <a:buChar char="•"/>
              </a:pPr>
              <a:r>
                <a:rPr lang="en-US" sz="2100">
                  <a:solidFill>
                    <a:srgbClr val="0F172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Renseigner les informations (nom, e-mail, ticket)</a:t>
              </a:r>
            </a:p>
            <a:p>
              <a:pPr algn="l" marL="380048" indent="-190024" lvl="1">
                <a:lnSpc>
                  <a:spcPts val="2520"/>
                </a:lnSpc>
                <a:buFont typeface="Arial"/>
                <a:buChar char="•"/>
              </a:pPr>
              <a:r>
                <a:rPr lang="en-US" sz="2100">
                  <a:solidFill>
                    <a:srgbClr val="0F172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Valider et obtenir une confirmation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097280" y="4869180"/>
            <a:ext cx="8503920" cy="548640"/>
            <a:chOff x="0" y="0"/>
            <a:chExt cx="11338560" cy="73152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1338560" cy="731520"/>
            </a:xfrm>
            <a:custGeom>
              <a:avLst/>
              <a:gdLst/>
              <a:ahLst/>
              <a:cxnLst/>
              <a:rect r="r" b="b" t="t" l="l"/>
              <a:pathLst>
                <a:path h="731520" w="11338560">
                  <a:moveTo>
                    <a:pt x="0" y="0"/>
                  </a:moveTo>
                  <a:lnTo>
                    <a:pt x="11338560" y="0"/>
                  </a:lnTo>
                  <a:lnTo>
                    <a:pt x="11338560" y="731520"/>
                  </a:lnTo>
                  <a:lnTo>
                    <a:pt x="0" y="73152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1133856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0F17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Côté organisateur :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371600" y="5486400"/>
            <a:ext cx="10149840" cy="1234440"/>
            <a:chOff x="0" y="0"/>
            <a:chExt cx="13533120" cy="164592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3533120" cy="1645920"/>
            </a:xfrm>
            <a:custGeom>
              <a:avLst/>
              <a:gdLst/>
              <a:ahLst/>
              <a:cxnLst/>
              <a:rect r="r" b="b" t="t" l="l"/>
              <a:pathLst>
                <a:path h="1645920" w="13533120">
                  <a:moveTo>
                    <a:pt x="0" y="0"/>
                  </a:moveTo>
                  <a:lnTo>
                    <a:pt x="13533120" y="0"/>
                  </a:lnTo>
                  <a:lnTo>
                    <a:pt x="13533120" y="1645920"/>
                  </a:lnTo>
                  <a:lnTo>
                    <a:pt x="0" y="164592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-47625"/>
              <a:ext cx="13533120" cy="16935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380048" indent="-190024" lvl="1">
                <a:lnSpc>
                  <a:spcPts val="2520"/>
                </a:lnSpc>
                <a:buFont typeface="Arial"/>
                <a:buChar char="•"/>
              </a:pPr>
              <a:r>
                <a:rPr lang="en-US" sz="2100">
                  <a:solidFill>
                    <a:srgbClr val="0F172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Events &gt; (événement) &gt; Registrations/Attendees</a:t>
              </a:r>
            </a:p>
            <a:p>
              <a:pPr algn="l" marL="380048" indent="-190024" lvl="1">
                <a:lnSpc>
                  <a:spcPts val="2520"/>
                </a:lnSpc>
                <a:buFont typeface="Arial"/>
                <a:buChar char="•"/>
              </a:pPr>
              <a:r>
                <a:rPr lang="en-US" sz="2100">
                  <a:solidFill>
                    <a:srgbClr val="0F172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Contrôle de la liste, export si nécessaire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9754528" y="3486150"/>
            <a:ext cx="7504772" cy="2766060"/>
            <a:chOff x="0" y="0"/>
            <a:chExt cx="13962046" cy="514604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23009" y="12700"/>
              <a:ext cx="13916027" cy="5120640"/>
            </a:xfrm>
            <a:custGeom>
              <a:avLst/>
              <a:gdLst/>
              <a:ahLst/>
              <a:cxnLst/>
              <a:rect r="r" b="b" t="t" l="l"/>
              <a:pathLst>
                <a:path h="5120640" w="13916027">
                  <a:moveTo>
                    <a:pt x="0" y="0"/>
                  </a:moveTo>
                  <a:lnTo>
                    <a:pt x="13916027" y="0"/>
                  </a:lnTo>
                  <a:lnTo>
                    <a:pt x="13916027" y="5120640"/>
                  </a:lnTo>
                  <a:lnTo>
                    <a:pt x="0" y="5120640"/>
                  </a:lnTo>
                  <a:close/>
                </a:path>
              </a:pathLst>
            </a:custGeom>
            <a:blipFill>
              <a:blip r:embed="rId3"/>
              <a:stretch>
                <a:fillRect l="-1613" t="-248" r="-1466" b="-250"/>
              </a:stretch>
            </a:blipFill>
          </p:spPr>
        </p:sp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3962045" cy="5146040"/>
            </a:xfrm>
            <a:custGeom>
              <a:avLst/>
              <a:gdLst/>
              <a:ahLst/>
              <a:cxnLst/>
              <a:rect r="r" b="b" t="t" l="l"/>
              <a:pathLst>
                <a:path h="5146040" w="13962045">
                  <a:moveTo>
                    <a:pt x="23009" y="0"/>
                  </a:moveTo>
                  <a:lnTo>
                    <a:pt x="13939036" y="0"/>
                  </a:lnTo>
                  <a:cubicBezTo>
                    <a:pt x="13951691" y="0"/>
                    <a:pt x="13962045" y="5715"/>
                    <a:pt x="13962045" y="12700"/>
                  </a:cubicBezTo>
                  <a:lnTo>
                    <a:pt x="13962045" y="5133340"/>
                  </a:lnTo>
                  <a:cubicBezTo>
                    <a:pt x="13962045" y="5140325"/>
                    <a:pt x="13951691" y="5146040"/>
                    <a:pt x="13939036" y="5146040"/>
                  </a:cubicBezTo>
                  <a:lnTo>
                    <a:pt x="23009" y="5146040"/>
                  </a:lnTo>
                  <a:cubicBezTo>
                    <a:pt x="10354" y="5146040"/>
                    <a:pt x="0" y="5140325"/>
                    <a:pt x="0" y="5133340"/>
                  </a:cubicBezTo>
                  <a:lnTo>
                    <a:pt x="0" y="12700"/>
                  </a:lnTo>
                  <a:cubicBezTo>
                    <a:pt x="0" y="5715"/>
                    <a:pt x="10354" y="0"/>
                    <a:pt x="23009" y="0"/>
                  </a:cubicBezTo>
                  <a:moveTo>
                    <a:pt x="23009" y="25400"/>
                  </a:moveTo>
                  <a:lnTo>
                    <a:pt x="23009" y="12700"/>
                  </a:lnTo>
                  <a:lnTo>
                    <a:pt x="46019" y="12700"/>
                  </a:lnTo>
                  <a:lnTo>
                    <a:pt x="46019" y="5133340"/>
                  </a:lnTo>
                  <a:lnTo>
                    <a:pt x="23009" y="5133340"/>
                  </a:lnTo>
                  <a:lnTo>
                    <a:pt x="23009" y="5120640"/>
                  </a:lnTo>
                  <a:lnTo>
                    <a:pt x="13939036" y="5120640"/>
                  </a:lnTo>
                  <a:lnTo>
                    <a:pt x="13939036" y="5133340"/>
                  </a:lnTo>
                  <a:lnTo>
                    <a:pt x="13916027" y="5133340"/>
                  </a:lnTo>
                  <a:lnTo>
                    <a:pt x="13916027" y="12700"/>
                  </a:lnTo>
                  <a:lnTo>
                    <a:pt x="13939036" y="12700"/>
                  </a:lnTo>
                  <a:lnTo>
                    <a:pt x="13939036" y="25400"/>
                  </a:lnTo>
                  <a:lnTo>
                    <a:pt x="23009" y="25400"/>
                  </a:lnTo>
                  <a:close/>
                </a:path>
              </a:pathLst>
            </a:custGeom>
            <a:solidFill>
              <a:srgbClr val="94A3B8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22" id="22"/>
          <p:cNvGrpSpPr/>
          <p:nvPr/>
        </p:nvGrpSpPr>
        <p:grpSpPr>
          <a:xfrm rot="0">
            <a:off x="0" y="9806940"/>
            <a:ext cx="18287543" cy="480060"/>
            <a:chOff x="0" y="0"/>
            <a:chExt cx="24383390" cy="64008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4383364" cy="640080"/>
            </a:xfrm>
            <a:custGeom>
              <a:avLst/>
              <a:gdLst/>
              <a:ahLst/>
              <a:cxnLst/>
              <a:rect r="r" b="b" t="t" l="l"/>
              <a:pathLst>
                <a:path h="640080" w="24383364">
                  <a:moveTo>
                    <a:pt x="0" y="0"/>
                  </a:moveTo>
                  <a:lnTo>
                    <a:pt x="24383364" y="0"/>
                  </a:lnTo>
                  <a:lnTo>
                    <a:pt x="24383364" y="640080"/>
                  </a:lnTo>
                  <a:lnTo>
                    <a:pt x="0" y="640080"/>
                  </a:lnTo>
                  <a:close/>
                </a:path>
              </a:pathLst>
            </a:custGeom>
            <a:solidFill>
              <a:srgbClr val="F1F5F9"/>
            </a:solidFill>
            <a:ln w="12700">
              <a:solidFill>
                <a:srgbClr val="000000"/>
              </a:solidFill>
            </a:ln>
          </p:spPr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7543" cy="1028700"/>
            <a:chOff x="0" y="0"/>
            <a:chExt cx="24383390" cy="13716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3364" cy="1371600"/>
            </a:xfrm>
            <a:custGeom>
              <a:avLst/>
              <a:gdLst/>
              <a:ahLst/>
              <a:cxnLst/>
              <a:rect r="r" b="b" t="t" l="l"/>
              <a:pathLst>
                <a:path h="1371600" w="24383364">
                  <a:moveTo>
                    <a:pt x="0" y="0"/>
                  </a:moveTo>
                  <a:lnTo>
                    <a:pt x="24383364" y="0"/>
                  </a:lnTo>
                  <a:lnTo>
                    <a:pt x="24383364" y="1371600"/>
                  </a:lnTo>
                  <a:lnTo>
                    <a:pt x="0" y="1371600"/>
                  </a:lnTo>
                  <a:close/>
                </a:path>
              </a:pathLst>
            </a:custGeom>
            <a:solidFill>
              <a:srgbClr val="0F172A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822960" y="246888"/>
            <a:ext cx="16641623" cy="617220"/>
            <a:chOff x="0" y="0"/>
            <a:chExt cx="22188830" cy="82296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2188830" cy="822960"/>
            </a:xfrm>
            <a:custGeom>
              <a:avLst/>
              <a:gdLst/>
              <a:ahLst/>
              <a:cxnLst/>
              <a:rect r="r" b="b" t="t" l="l"/>
              <a:pathLst>
                <a:path h="822960" w="22188830">
                  <a:moveTo>
                    <a:pt x="0" y="0"/>
                  </a:moveTo>
                  <a:lnTo>
                    <a:pt x="22188830" y="0"/>
                  </a:lnTo>
                  <a:lnTo>
                    <a:pt x="22188830" y="822960"/>
                  </a:lnTo>
                  <a:lnTo>
                    <a:pt x="0" y="82296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66675"/>
              <a:ext cx="22188830" cy="8896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960"/>
                </a:lnSpc>
              </a:pPr>
              <a:r>
                <a:rPr lang="en-US" sz="33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8. Tests (scénarios et preuves)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097280" y="1508760"/>
            <a:ext cx="10424160" cy="548640"/>
            <a:chOff x="0" y="0"/>
            <a:chExt cx="13898880" cy="73152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3898880" cy="731520"/>
            </a:xfrm>
            <a:custGeom>
              <a:avLst/>
              <a:gdLst/>
              <a:ahLst/>
              <a:cxnLst/>
              <a:rect r="r" b="b" t="t" l="l"/>
              <a:pathLst>
                <a:path h="731520" w="13898880">
                  <a:moveTo>
                    <a:pt x="0" y="0"/>
                  </a:moveTo>
                  <a:lnTo>
                    <a:pt x="13898880" y="0"/>
                  </a:lnTo>
                  <a:lnTo>
                    <a:pt x="13898880" y="731520"/>
                  </a:lnTo>
                  <a:lnTo>
                    <a:pt x="0" y="73152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1389888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0F17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Exemples de tests exécutés :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371600" y="2125980"/>
            <a:ext cx="9875520" cy="2194560"/>
            <a:chOff x="0" y="0"/>
            <a:chExt cx="13167360" cy="292608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3167361" cy="2926080"/>
            </a:xfrm>
            <a:custGeom>
              <a:avLst/>
              <a:gdLst/>
              <a:ahLst/>
              <a:cxnLst/>
              <a:rect r="r" b="b" t="t" l="l"/>
              <a:pathLst>
                <a:path h="2926080" w="13167361">
                  <a:moveTo>
                    <a:pt x="0" y="0"/>
                  </a:moveTo>
                  <a:lnTo>
                    <a:pt x="13167361" y="0"/>
                  </a:lnTo>
                  <a:lnTo>
                    <a:pt x="13167361" y="2926080"/>
                  </a:lnTo>
                  <a:lnTo>
                    <a:pt x="0" y="292608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47625"/>
              <a:ext cx="13167360" cy="29737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380048" indent="-190024" lvl="1">
                <a:lnSpc>
                  <a:spcPts val="2520"/>
                </a:lnSpc>
                <a:buFont typeface="Arial"/>
                <a:buChar char="•"/>
              </a:pPr>
              <a:r>
                <a:rPr lang="en-US" sz="2100">
                  <a:solidFill>
                    <a:srgbClr val="0F172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T1 : création événement -&gt; visible dans Events</a:t>
              </a:r>
            </a:p>
            <a:p>
              <a:pPr algn="l" marL="380048" indent="-190024" lvl="1">
                <a:lnSpc>
                  <a:spcPts val="2520"/>
                </a:lnSpc>
                <a:buFont typeface="Arial"/>
                <a:buChar char="•"/>
              </a:pPr>
              <a:r>
                <a:rPr lang="en-US" sz="2100">
                  <a:solidFill>
                    <a:srgbClr val="0F172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T2 : publication web -&gt; page accessible</a:t>
              </a:r>
            </a:p>
            <a:p>
              <a:pPr algn="l" marL="380048" indent="-190024" lvl="1">
                <a:lnSpc>
                  <a:spcPts val="2520"/>
                </a:lnSpc>
                <a:buFont typeface="Arial"/>
                <a:buChar char="•"/>
              </a:pPr>
              <a:r>
                <a:rPr lang="en-US" sz="2100">
                  <a:solidFill>
                    <a:srgbClr val="0F172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T3 : inscription -&gt; participant enregistré</a:t>
              </a:r>
            </a:p>
            <a:p>
              <a:pPr algn="l" marL="380048" indent="-190024" lvl="1">
                <a:lnSpc>
                  <a:spcPts val="2520"/>
                </a:lnSpc>
                <a:buFont typeface="Arial"/>
                <a:buChar char="•"/>
              </a:pPr>
              <a:r>
                <a:rPr lang="en-US" sz="2100">
                  <a:solidFill>
                    <a:srgbClr val="0F172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T4 : liste participants -&gt; consultable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087755" y="4653915"/>
            <a:ext cx="10443210" cy="4545330"/>
            <a:chOff x="0" y="0"/>
            <a:chExt cx="13924280" cy="606044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12700" y="12700"/>
              <a:ext cx="13898880" cy="6035040"/>
            </a:xfrm>
            <a:custGeom>
              <a:avLst/>
              <a:gdLst/>
              <a:ahLst/>
              <a:cxnLst/>
              <a:rect r="r" b="b" t="t" l="l"/>
              <a:pathLst>
                <a:path h="6035040" w="13898880">
                  <a:moveTo>
                    <a:pt x="0" y="0"/>
                  </a:moveTo>
                  <a:lnTo>
                    <a:pt x="13898880" y="0"/>
                  </a:lnTo>
                  <a:lnTo>
                    <a:pt x="13898880" y="6035040"/>
                  </a:lnTo>
                  <a:lnTo>
                    <a:pt x="0" y="6035040"/>
                  </a:lnTo>
                  <a:close/>
                </a:path>
              </a:pathLst>
            </a:custGeom>
            <a:blipFill>
              <a:blip r:embed="rId3"/>
              <a:stretch>
                <a:fillRect l="0" t="-522" r="0" b="-522"/>
              </a:stretch>
            </a:blip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3924280" cy="6060440"/>
            </a:xfrm>
            <a:custGeom>
              <a:avLst/>
              <a:gdLst/>
              <a:ahLst/>
              <a:cxnLst/>
              <a:rect r="r" b="b" t="t" l="l"/>
              <a:pathLst>
                <a:path h="6060440" w="13924280">
                  <a:moveTo>
                    <a:pt x="12700" y="0"/>
                  </a:moveTo>
                  <a:lnTo>
                    <a:pt x="13911580" y="0"/>
                  </a:lnTo>
                  <a:cubicBezTo>
                    <a:pt x="13918566" y="0"/>
                    <a:pt x="13924280" y="5715"/>
                    <a:pt x="13924280" y="12700"/>
                  </a:cubicBezTo>
                  <a:lnTo>
                    <a:pt x="13924280" y="6047740"/>
                  </a:lnTo>
                  <a:cubicBezTo>
                    <a:pt x="13924280" y="6054725"/>
                    <a:pt x="13918566" y="6060440"/>
                    <a:pt x="13911580" y="6060440"/>
                  </a:cubicBezTo>
                  <a:lnTo>
                    <a:pt x="12700" y="6060440"/>
                  </a:lnTo>
                  <a:cubicBezTo>
                    <a:pt x="5715" y="6060440"/>
                    <a:pt x="0" y="6054725"/>
                    <a:pt x="0" y="6047740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6047740"/>
                  </a:lnTo>
                  <a:lnTo>
                    <a:pt x="12700" y="6047740"/>
                  </a:lnTo>
                  <a:lnTo>
                    <a:pt x="12700" y="6035040"/>
                  </a:lnTo>
                  <a:lnTo>
                    <a:pt x="13911580" y="6035040"/>
                  </a:lnTo>
                  <a:lnTo>
                    <a:pt x="13911580" y="6047740"/>
                  </a:lnTo>
                  <a:lnTo>
                    <a:pt x="13898880" y="6047740"/>
                  </a:lnTo>
                  <a:lnTo>
                    <a:pt x="13898880" y="12700"/>
                  </a:lnTo>
                  <a:lnTo>
                    <a:pt x="13911580" y="12700"/>
                  </a:lnTo>
                  <a:lnTo>
                    <a:pt x="13911580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CBD5E1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16" id="16"/>
          <p:cNvGrpSpPr/>
          <p:nvPr/>
        </p:nvGrpSpPr>
        <p:grpSpPr>
          <a:xfrm rot="0">
            <a:off x="0" y="9806940"/>
            <a:ext cx="18287543" cy="480060"/>
            <a:chOff x="0" y="0"/>
            <a:chExt cx="24383390" cy="64008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4383364" cy="640080"/>
            </a:xfrm>
            <a:custGeom>
              <a:avLst/>
              <a:gdLst/>
              <a:ahLst/>
              <a:cxnLst/>
              <a:rect r="r" b="b" t="t" l="l"/>
              <a:pathLst>
                <a:path h="640080" w="24383364">
                  <a:moveTo>
                    <a:pt x="0" y="0"/>
                  </a:moveTo>
                  <a:lnTo>
                    <a:pt x="24383364" y="0"/>
                  </a:lnTo>
                  <a:lnTo>
                    <a:pt x="24383364" y="640080"/>
                  </a:lnTo>
                  <a:lnTo>
                    <a:pt x="0" y="640080"/>
                  </a:lnTo>
                  <a:close/>
                </a:path>
              </a:pathLst>
            </a:custGeom>
            <a:solidFill>
              <a:srgbClr val="F1F5F9"/>
            </a:solidFill>
            <a:ln w="12700">
              <a:solidFill>
                <a:srgbClr val="000000"/>
              </a:solidFill>
            </a:ln>
          </p:spPr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7543" cy="1028700"/>
            <a:chOff x="0" y="0"/>
            <a:chExt cx="24383390" cy="13716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3364" cy="1371600"/>
            </a:xfrm>
            <a:custGeom>
              <a:avLst/>
              <a:gdLst/>
              <a:ahLst/>
              <a:cxnLst/>
              <a:rect r="r" b="b" t="t" l="l"/>
              <a:pathLst>
                <a:path h="1371600" w="24383364">
                  <a:moveTo>
                    <a:pt x="0" y="0"/>
                  </a:moveTo>
                  <a:lnTo>
                    <a:pt x="24383364" y="0"/>
                  </a:lnTo>
                  <a:lnTo>
                    <a:pt x="24383364" y="1371600"/>
                  </a:lnTo>
                  <a:lnTo>
                    <a:pt x="0" y="1371600"/>
                  </a:lnTo>
                  <a:close/>
                </a:path>
              </a:pathLst>
            </a:custGeom>
            <a:solidFill>
              <a:srgbClr val="0F172A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822960" y="246888"/>
            <a:ext cx="16641623" cy="617220"/>
            <a:chOff x="0" y="0"/>
            <a:chExt cx="22188830" cy="82296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2188830" cy="822960"/>
            </a:xfrm>
            <a:custGeom>
              <a:avLst/>
              <a:gdLst/>
              <a:ahLst/>
              <a:cxnLst/>
              <a:rect r="r" b="b" t="t" l="l"/>
              <a:pathLst>
                <a:path h="822960" w="22188830">
                  <a:moveTo>
                    <a:pt x="0" y="0"/>
                  </a:moveTo>
                  <a:lnTo>
                    <a:pt x="22188830" y="0"/>
                  </a:lnTo>
                  <a:lnTo>
                    <a:pt x="22188830" y="822960"/>
                  </a:lnTo>
                  <a:lnTo>
                    <a:pt x="0" y="82296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66675"/>
              <a:ext cx="22188830" cy="8896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960"/>
                </a:lnSpc>
              </a:pPr>
              <a:r>
                <a:rPr lang="en-US" sz="33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9. Conclusion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097280" y="1508760"/>
            <a:ext cx="8503920" cy="548640"/>
            <a:chOff x="0" y="0"/>
            <a:chExt cx="11338560" cy="73152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1338560" cy="731520"/>
            </a:xfrm>
            <a:custGeom>
              <a:avLst/>
              <a:gdLst/>
              <a:ahLst/>
              <a:cxnLst/>
              <a:rect r="r" b="b" t="t" l="l"/>
              <a:pathLst>
                <a:path h="731520" w="11338560">
                  <a:moveTo>
                    <a:pt x="0" y="0"/>
                  </a:moveTo>
                  <a:lnTo>
                    <a:pt x="11338560" y="0"/>
                  </a:lnTo>
                  <a:lnTo>
                    <a:pt x="11338560" y="731520"/>
                  </a:lnTo>
                  <a:lnTo>
                    <a:pt x="0" y="73152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1133856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0F17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Bilan :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371600" y="2125980"/>
            <a:ext cx="10698480" cy="1920240"/>
            <a:chOff x="0" y="0"/>
            <a:chExt cx="14264640" cy="256032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4264639" cy="2560320"/>
            </a:xfrm>
            <a:custGeom>
              <a:avLst/>
              <a:gdLst/>
              <a:ahLst/>
              <a:cxnLst/>
              <a:rect r="r" b="b" t="t" l="l"/>
              <a:pathLst>
                <a:path h="2560320" w="14264639">
                  <a:moveTo>
                    <a:pt x="0" y="0"/>
                  </a:moveTo>
                  <a:lnTo>
                    <a:pt x="14264639" y="0"/>
                  </a:lnTo>
                  <a:lnTo>
                    <a:pt x="14264639" y="2560320"/>
                  </a:lnTo>
                  <a:lnTo>
                    <a:pt x="0" y="256032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47625"/>
              <a:ext cx="14264640" cy="26079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380048" indent="-190024" lvl="1">
                <a:lnSpc>
                  <a:spcPts val="2520"/>
                </a:lnSpc>
                <a:buFont typeface="Arial"/>
                <a:buChar char="•"/>
              </a:pPr>
              <a:r>
                <a:rPr lang="en-US" sz="2100">
                  <a:solidFill>
                    <a:srgbClr val="0F172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Solution livrée 100% via modules Odoo existants</a:t>
              </a:r>
            </a:p>
            <a:p>
              <a:pPr algn="l" marL="380048" indent="-190024" lvl="1">
                <a:lnSpc>
                  <a:spcPts val="2520"/>
                </a:lnSpc>
                <a:buFont typeface="Arial"/>
                <a:buChar char="•"/>
              </a:pPr>
              <a:r>
                <a:rPr lang="en-US" sz="2100">
                  <a:solidFill>
                    <a:srgbClr val="0F172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Déploiement reproductible via Docker Compose</a:t>
              </a:r>
            </a:p>
            <a:p>
              <a:pPr algn="l" marL="380048" indent="-190024" lvl="1">
                <a:lnSpc>
                  <a:spcPts val="2520"/>
                </a:lnSpc>
                <a:buFont typeface="Arial"/>
                <a:buChar char="•"/>
              </a:pPr>
              <a:r>
                <a:rPr lang="en-US" sz="2100">
                  <a:solidFill>
                    <a:srgbClr val="0F172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Process complet : création -&gt; publication -&gt; inscription -&gt; suivi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0" y="9806940"/>
            <a:ext cx="18287543" cy="480060"/>
            <a:chOff x="0" y="0"/>
            <a:chExt cx="24383390" cy="64008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4383364" cy="640080"/>
            </a:xfrm>
            <a:custGeom>
              <a:avLst/>
              <a:gdLst/>
              <a:ahLst/>
              <a:cxnLst/>
              <a:rect r="r" b="b" t="t" l="l"/>
              <a:pathLst>
                <a:path h="640080" w="24383364">
                  <a:moveTo>
                    <a:pt x="0" y="0"/>
                  </a:moveTo>
                  <a:lnTo>
                    <a:pt x="24383364" y="0"/>
                  </a:lnTo>
                  <a:lnTo>
                    <a:pt x="24383364" y="640080"/>
                  </a:lnTo>
                  <a:lnTo>
                    <a:pt x="0" y="640080"/>
                  </a:lnTo>
                  <a:close/>
                </a:path>
              </a:pathLst>
            </a:custGeom>
            <a:solidFill>
              <a:srgbClr val="F1F5F9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15" id="15"/>
          <p:cNvGrpSpPr/>
          <p:nvPr/>
        </p:nvGrpSpPr>
        <p:grpSpPr>
          <a:xfrm rot="0">
            <a:off x="822960" y="9875520"/>
            <a:ext cx="16641623" cy="342900"/>
            <a:chOff x="0" y="0"/>
            <a:chExt cx="22188830" cy="4572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2188830" cy="457200"/>
            </a:xfrm>
            <a:custGeom>
              <a:avLst/>
              <a:gdLst/>
              <a:ahLst/>
              <a:cxnLst/>
              <a:rect r="r" b="b" t="t" l="l"/>
              <a:pathLst>
                <a:path h="457200" w="22188830">
                  <a:moveTo>
                    <a:pt x="0" y="0"/>
                  </a:moveTo>
                  <a:lnTo>
                    <a:pt x="22188830" y="0"/>
                  </a:lnTo>
                  <a:lnTo>
                    <a:pt x="22188830" y="457200"/>
                  </a:lnTo>
                  <a:lnTo>
                    <a:pt x="0" y="4572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22188830" cy="495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33415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Fin.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DAG8DOczGiQ</dc:identifier>
  <dcterms:modified xsi:type="dcterms:W3CDTF">2011-08-01T06:04:30Z</dcterms:modified>
  <cp:revision>1</cp:revision>
  <dc:title>PPT_Odoo_Gestion_Evenements_AZZMAN.pptx</dc:title>
</cp:coreProperties>
</file>