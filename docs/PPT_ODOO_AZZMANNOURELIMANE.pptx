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ublic Sans Bold" charset="1" panose="00000000000000000000"/>
      <p:regular r:id="rId16"/>
    </p:embeddedFont>
    <p:embeddedFont>
      <p:font typeface="Public Sans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15923" y="3283265"/>
            <a:ext cx="12256154" cy="3444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60"/>
              </a:lnSpc>
              <a:spcBef>
                <a:spcPct val="0"/>
              </a:spcBef>
            </a:pPr>
            <a:r>
              <a:rPr lang="en-US" b="true" sz="9900">
                <a:solidFill>
                  <a:srgbClr val="0E085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Smart Supp</a:t>
            </a:r>
            <a:r>
              <a:rPr lang="en-US" b="true" sz="9900">
                <a:solidFill>
                  <a:srgbClr val="0E085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ort Sentiment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662995" y="6904959"/>
            <a:ext cx="6962010" cy="235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8"/>
              </a:lnSpc>
              <a:spcBef>
                <a:spcPct val="0"/>
              </a:spcBef>
            </a:pPr>
            <a:r>
              <a:rPr lang="en-US" sz="3348">
                <a:solidFill>
                  <a:srgbClr val="4E45C2"/>
                </a:solidFill>
                <a:latin typeface="Public Sans"/>
                <a:ea typeface="Public Sans"/>
                <a:cs typeface="Public Sans"/>
                <a:sym typeface="Public Sans"/>
              </a:rPr>
              <a:t>M</a:t>
            </a:r>
            <a:r>
              <a:rPr lang="en-US" sz="3348">
                <a:solidFill>
                  <a:srgbClr val="4E45C2"/>
                </a:solidFill>
                <a:latin typeface="Public Sans"/>
                <a:ea typeface="Public Sans"/>
                <a:cs typeface="Public Sans"/>
                <a:sym typeface="Public Sans"/>
              </a:rPr>
              <a:t>odule Odoo d’analyse automatique des tickets</a:t>
            </a:r>
          </a:p>
          <a:p>
            <a:pPr algn="ctr">
              <a:lnSpc>
                <a:spcPts val="4688"/>
              </a:lnSpc>
              <a:spcBef>
                <a:spcPct val="0"/>
              </a:spcBef>
            </a:pPr>
            <a:r>
              <a:rPr lang="en-US" sz="3348">
                <a:solidFill>
                  <a:srgbClr val="4E45C2"/>
                </a:solidFill>
                <a:latin typeface="Public Sans"/>
                <a:ea typeface="Public Sans"/>
                <a:cs typeface="Public Sans"/>
                <a:sym typeface="Public Sans"/>
              </a:rPr>
              <a:t>Projet ERP – 2025/2026</a:t>
            </a:r>
          </a:p>
          <a:p>
            <a:pPr algn="ctr">
              <a:lnSpc>
                <a:spcPts val="4688"/>
              </a:lnSpc>
              <a:spcBef>
                <a:spcPct val="0"/>
              </a:spcBef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3220110"/>
            <a:chOff x="0" y="0"/>
            <a:chExt cx="24384000" cy="4293480"/>
          </a:xfrm>
        </p:grpSpPr>
        <p:sp>
          <p:nvSpPr>
            <p:cNvPr name="AutoShape 5" id="5"/>
            <p:cNvSpPr/>
            <p:nvPr/>
          </p:nvSpPr>
          <p:spPr>
            <a:xfrm flipV="true">
              <a:off x="54" y="3760741"/>
              <a:ext cx="24208216" cy="80817"/>
            </a:xfrm>
            <a:prstGeom prst="line">
              <a:avLst/>
            </a:prstGeom>
            <a:ln cap="flat" w="323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9916695" y="771056"/>
              <a:ext cx="4467305" cy="2871839"/>
            </a:xfrm>
            <a:custGeom>
              <a:avLst/>
              <a:gdLst/>
              <a:ahLst/>
              <a:cxnLst/>
              <a:rect r="r" b="b" t="t" l="l"/>
              <a:pathLst>
                <a:path h="2871839" w="4467305">
                  <a:moveTo>
                    <a:pt x="0" y="0"/>
                  </a:moveTo>
                  <a:lnTo>
                    <a:pt x="4467305" y="0"/>
                  </a:lnTo>
                  <a:lnTo>
                    <a:pt x="4467305" y="2871838"/>
                  </a:lnTo>
                  <a:lnTo>
                    <a:pt x="0" y="2871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87974" y="329346"/>
              <a:ext cx="3964134" cy="3964134"/>
            </a:xfrm>
            <a:custGeom>
              <a:avLst/>
              <a:gdLst/>
              <a:ahLst/>
              <a:cxnLst/>
              <a:rect r="r" b="b" t="t" l="l"/>
              <a:pathLst>
                <a:path h="3964134" w="3964134">
                  <a:moveTo>
                    <a:pt x="0" y="0"/>
                  </a:moveTo>
                  <a:lnTo>
                    <a:pt x="3964134" y="0"/>
                  </a:lnTo>
                  <a:lnTo>
                    <a:pt x="3964134" y="3964134"/>
                  </a:lnTo>
                  <a:lnTo>
                    <a:pt x="0" y="3964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AutoShape 8" id="8"/>
            <p:cNvSpPr/>
            <p:nvPr/>
          </p:nvSpPr>
          <p:spPr>
            <a:xfrm>
              <a:off x="4982479" y="83146"/>
              <a:ext cx="0" cy="3718003"/>
            </a:xfrm>
            <a:prstGeom prst="line">
              <a:avLst/>
            </a:prstGeom>
            <a:ln cap="flat" w="323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19415632" y="0"/>
              <a:ext cx="0" cy="3763071"/>
            </a:xfrm>
            <a:prstGeom prst="line">
              <a:avLst/>
            </a:prstGeom>
            <a:ln cap="flat" w="323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645182" y="8086059"/>
            <a:ext cx="6962010" cy="1172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88"/>
              </a:lnSpc>
            </a:pPr>
            <a:r>
              <a:rPr lang="en-US" sz="3348">
                <a:solidFill>
                  <a:srgbClr val="4E45C2"/>
                </a:solidFill>
                <a:latin typeface="Public Sans"/>
                <a:ea typeface="Public Sans"/>
                <a:cs typeface="Public Sans"/>
                <a:sym typeface="Public Sans"/>
              </a:rPr>
              <a:t>Par: </a:t>
            </a:r>
          </a:p>
          <a:p>
            <a:pPr algn="just">
              <a:lnSpc>
                <a:spcPts val="4688"/>
              </a:lnSpc>
              <a:spcBef>
                <a:spcPct val="0"/>
              </a:spcBef>
            </a:pPr>
            <a:r>
              <a:rPr lang="en-US" sz="3348">
                <a:solidFill>
                  <a:srgbClr val="4E45C2"/>
                </a:solidFill>
                <a:latin typeface="Public Sans"/>
                <a:ea typeface="Public Sans"/>
                <a:cs typeface="Public Sans"/>
                <a:sym typeface="Public Sans"/>
              </a:rPr>
              <a:t>AZZMAN Nour Elimane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85825"/>
            <a:ext cx="13422789" cy="120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65"/>
              </a:lnSpc>
              <a:spcBef>
                <a:spcPct val="0"/>
              </a:spcBef>
            </a:pPr>
            <a:r>
              <a:rPr lang="en-US" b="true" sz="6975">
                <a:solidFill>
                  <a:srgbClr val="0E085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</a:t>
            </a:r>
            <a:r>
              <a:rPr lang="en-US" b="true" sz="6975" u="none">
                <a:solidFill>
                  <a:srgbClr val="0E085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ontexte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696121"/>
            <a:ext cx="13422789" cy="3534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3002" indent="-361501" lvl="1">
              <a:lnSpc>
                <a:spcPts val="4688"/>
              </a:lnSpc>
              <a:spcBef>
                <a:spcPct val="0"/>
              </a:spcBef>
              <a:buFont typeface="Arial"/>
              <a:buChar char="•"/>
            </a:pP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Les entreprises reçoivent de nombreu</a:t>
            </a:r>
            <a:r>
              <a:rPr lang="en-US" sz="3348" u="none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x tickets de support.</a:t>
            </a:r>
          </a:p>
          <a:p>
            <a:pPr algn="l" marL="723002" indent="-361501" lvl="1">
              <a:lnSpc>
                <a:spcPts val="4688"/>
              </a:lnSpc>
              <a:spcBef>
                <a:spcPct val="0"/>
              </a:spcBef>
              <a:buFont typeface="Arial"/>
              <a:buChar char="•"/>
            </a:pPr>
            <a:r>
              <a:rPr lang="en-US" sz="3348" u="none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Lire chaque description demande du temps.</a:t>
            </a:r>
          </a:p>
          <a:p>
            <a:pPr algn="l" marL="723002" indent="-361501" lvl="1">
              <a:lnSpc>
                <a:spcPts val="4688"/>
              </a:lnSpc>
              <a:spcBef>
                <a:spcPct val="0"/>
              </a:spcBef>
              <a:buFont typeface="Arial"/>
              <a:buChar char="•"/>
            </a:pPr>
            <a:r>
              <a:rPr lang="en-US" sz="3348" u="none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Difficile d’identifier rapidement les clients insatisfaits.</a:t>
            </a:r>
          </a:p>
          <a:p>
            <a:pPr algn="l" marL="723001" indent="-361501" lvl="1">
              <a:lnSpc>
                <a:spcPts val="4688"/>
              </a:lnSpc>
              <a:spcBef>
                <a:spcPct val="0"/>
              </a:spcBef>
              <a:buFont typeface="Arial"/>
              <a:buChar char="•"/>
            </a:pPr>
            <a:r>
              <a:rPr lang="en-US" sz="3348" u="none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Besoin d’un module simple pour analyser automatiquement le sentiment du client.</a:t>
            </a:r>
          </a:p>
          <a:p>
            <a:pPr algn="l" marL="0" indent="0" lvl="0">
              <a:lnSpc>
                <a:spcPts val="468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85825"/>
            <a:ext cx="13422789" cy="120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65"/>
              </a:lnSpc>
              <a:spcBef>
                <a:spcPct val="0"/>
              </a:spcBef>
            </a:pPr>
            <a:r>
              <a:rPr lang="en-US" b="true" sz="6975">
                <a:solidFill>
                  <a:srgbClr val="0E085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</a:t>
            </a:r>
            <a:r>
              <a:rPr lang="en-US" b="true" sz="6975" u="none">
                <a:solidFill>
                  <a:srgbClr val="0E085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oblématique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696121"/>
            <a:ext cx="15035744" cy="235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8"/>
              </a:lnSpc>
            </a:pP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Comment automa</a:t>
            </a:r>
            <a:r>
              <a:rPr lang="en-US" sz="3348" u="none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tiser l’analyse du texte d’un ticket pour détecter si un client est satisfait, neutre ou mécontent, afin d'améliorer la priorisation et la réactivité du support ?</a:t>
            </a:r>
          </a:p>
          <a:p>
            <a:pPr algn="l" marL="0" indent="0" lvl="0">
              <a:lnSpc>
                <a:spcPts val="468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84971" y="5896723"/>
            <a:ext cx="4438255" cy="3361577"/>
          </a:xfrm>
          <a:custGeom>
            <a:avLst/>
            <a:gdLst/>
            <a:ahLst/>
            <a:cxnLst/>
            <a:rect r="r" b="b" t="t" l="l"/>
            <a:pathLst>
              <a:path h="3361577" w="4438255">
                <a:moveTo>
                  <a:pt x="0" y="0"/>
                </a:moveTo>
                <a:lnTo>
                  <a:pt x="4438255" y="0"/>
                </a:lnTo>
                <a:lnTo>
                  <a:pt x="4438255" y="3361577"/>
                </a:lnTo>
                <a:lnTo>
                  <a:pt x="0" y="33615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014" r="0" b="-1601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85825"/>
            <a:ext cx="13422789" cy="120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65"/>
              </a:lnSpc>
              <a:spcBef>
                <a:spcPct val="0"/>
              </a:spcBef>
            </a:pPr>
            <a:r>
              <a:rPr lang="en-US" b="true" sz="6975">
                <a:solidFill>
                  <a:srgbClr val="0E085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</a:t>
            </a:r>
            <a:r>
              <a:rPr lang="en-US" b="true" sz="6975" u="none">
                <a:solidFill>
                  <a:srgbClr val="0E085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bjectifs du projet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696121"/>
            <a:ext cx="15035744" cy="3534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3002" indent="-361501" lvl="1">
              <a:lnSpc>
                <a:spcPts val="4688"/>
              </a:lnSpc>
              <a:buFont typeface="Arial"/>
              <a:buChar char="•"/>
            </a:pP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Développer un module Odoo simple et fonctionnel</a:t>
            </a:r>
          </a:p>
          <a:p>
            <a:pPr algn="l" marL="723002" indent="-361501" lvl="1">
              <a:lnSpc>
                <a:spcPts val="4688"/>
              </a:lnSpc>
              <a:buFont typeface="Arial"/>
              <a:buChar char="•"/>
            </a:pP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Analyser automatiquement le sentiment d’un ticket</a:t>
            </a:r>
          </a:p>
          <a:p>
            <a:pPr algn="l" marL="723002" indent="-361501" lvl="1">
              <a:lnSpc>
                <a:spcPts val="4688"/>
              </a:lnSpc>
              <a:buFont typeface="Arial"/>
              <a:buChar char="•"/>
            </a:pP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Afficher le sentiment (positif / neutre / négatif)</a:t>
            </a:r>
          </a:p>
          <a:p>
            <a:pPr algn="l" marL="723002" indent="-361501" lvl="1">
              <a:lnSpc>
                <a:spcPts val="4688"/>
              </a:lnSpc>
              <a:buFont typeface="Arial"/>
              <a:buChar char="•"/>
            </a:pP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Faciliter la priorisation du support</a:t>
            </a:r>
          </a:p>
          <a:p>
            <a:pPr algn="l" marL="723002" indent="-361501" lvl="1">
              <a:lnSpc>
                <a:spcPts val="4688"/>
              </a:lnSpc>
              <a:buFont typeface="Arial"/>
              <a:buChar char="•"/>
            </a:pP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Déployer le module via Docker, sans installation locale</a:t>
            </a:r>
          </a:p>
          <a:p>
            <a:pPr algn="l" marL="0" indent="0" lvl="0">
              <a:lnSpc>
                <a:spcPts val="468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85825"/>
            <a:ext cx="13422789" cy="120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65"/>
              </a:lnSpc>
              <a:spcBef>
                <a:spcPct val="0"/>
              </a:spcBef>
            </a:pPr>
            <a:r>
              <a:rPr lang="en-US" b="true" sz="6975">
                <a:solidFill>
                  <a:srgbClr val="0E085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Archit</a:t>
            </a:r>
            <a:r>
              <a:rPr lang="en-US" b="true" sz="6975" u="none">
                <a:solidFill>
                  <a:srgbClr val="0E085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ecture du module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696121"/>
            <a:ext cx="15035744" cy="4124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8"/>
              </a:lnSpc>
            </a:pP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Dossiers du module :</a:t>
            </a:r>
          </a:p>
          <a:p>
            <a:pPr algn="l" marL="723002" indent="-361501" lvl="1">
              <a:lnSpc>
                <a:spcPts val="4688"/>
              </a:lnSpc>
              <a:buFont typeface="Arial"/>
              <a:buChar char="•"/>
            </a:pP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model</a:t>
            </a: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s/ : logique métier (modèle + IA)</a:t>
            </a:r>
          </a:p>
          <a:p>
            <a:pPr algn="l" marL="723002" indent="-361501" lvl="1">
              <a:lnSpc>
                <a:spcPts val="4688"/>
              </a:lnSpc>
              <a:buFont typeface="Arial"/>
              <a:buChar char="•"/>
            </a:pP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views/ : interface utilisateur</a:t>
            </a:r>
          </a:p>
          <a:p>
            <a:pPr algn="l" marL="723002" indent="-361501" lvl="1">
              <a:lnSpc>
                <a:spcPts val="4688"/>
              </a:lnSpc>
              <a:buFont typeface="Arial"/>
              <a:buChar char="•"/>
            </a:pP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security/ : droits d’accès</a:t>
            </a:r>
          </a:p>
          <a:p>
            <a:pPr algn="l" marL="723002" indent="-361501" lvl="1">
              <a:lnSpc>
                <a:spcPts val="4688"/>
              </a:lnSpc>
              <a:buFont typeface="Arial"/>
              <a:buChar char="•"/>
            </a:pP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__m</a:t>
            </a: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anifest__.py : configuration du module</a:t>
            </a:r>
          </a:p>
          <a:p>
            <a:pPr algn="l" marL="723002" indent="-361501" lvl="1">
              <a:lnSpc>
                <a:spcPts val="4688"/>
              </a:lnSpc>
              <a:buFont typeface="Arial"/>
              <a:buChar char="•"/>
            </a:pP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__init__.py : chargement des composants</a:t>
            </a:r>
          </a:p>
          <a:p>
            <a:pPr algn="l" marL="0" indent="0" lvl="0">
              <a:lnSpc>
                <a:spcPts val="4688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994992" y="2570091"/>
            <a:ext cx="6264308" cy="6688209"/>
          </a:xfrm>
          <a:custGeom>
            <a:avLst/>
            <a:gdLst/>
            <a:ahLst/>
            <a:cxnLst/>
            <a:rect r="r" b="b" t="t" l="l"/>
            <a:pathLst>
              <a:path h="6688209" w="6264308">
                <a:moveTo>
                  <a:pt x="0" y="0"/>
                </a:moveTo>
                <a:lnTo>
                  <a:pt x="6264308" y="0"/>
                </a:lnTo>
                <a:lnTo>
                  <a:pt x="6264308" y="6688209"/>
                </a:lnTo>
                <a:lnTo>
                  <a:pt x="0" y="66882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85825"/>
            <a:ext cx="13422789" cy="120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65"/>
              </a:lnSpc>
              <a:spcBef>
                <a:spcPct val="0"/>
              </a:spcBef>
            </a:pPr>
            <a:r>
              <a:rPr lang="en-US" b="true" sz="6975">
                <a:solidFill>
                  <a:srgbClr val="0E085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Fonctionnali</a:t>
            </a:r>
            <a:r>
              <a:rPr lang="en-US" b="true" sz="6975" u="none">
                <a:solidFill>
                  <a:srgbClr val="0E085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tés développées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696121"/>
            <a:ext cx="15035744" cy="3534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3002" indent="-361501" lvl="1">
              <a:lnSpc>
                <a:spcPts val="4688"/>
              </a:lnSpc>
              <a:buFont typeface="Arial"/>
              <a:buChar char="•"/>
            </a:pP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Création et gestion des tickets de support</a:t>
            </a:r>
          </a:p>
          <a:p>
            <a:pPr algn="l" marL="723002" indent="-361501" lvl="1">
              <a:lnSpc>
                <a:spcPts val="4688"/>
              </a:lnSpc>
              <a:buFont typeface="Arial"/>
              <a:buChar char="•"/>
            </a:pP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Bouton « Analyser avec</a:t>
            </a: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 IA »</a:t>
            </a:r>
          </a:p>
          <a:p>
            <a:pPr algn="l" marL="723002" indent="-361501" lvl="1">
              <a:lnSpc>
                <a:spcPts val="4688"/>
              </a:lnSpc>
              <a:buFont typeface="Arial"/>
              <a:buChar char="•"/>
            </a:pP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Analyse automatique du sentiment</a:t>
            </a:r>
          </a:p>
          <a:p>
            <a:pPr algn="l" marL="723002" indent="-361501" lvl="1">
              <a:lnSpc>
                <a:spcPts val="4688"/>
              </a:lnSpc>
              <a:buFont typeface="Arial"/>
              <a:buChar char="•"/>
            </a:pP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Affichage du résultat dans les vues (liste + formulaire)</a:t>
            </a:r>
          </a:p>
          <a:p>
            <a:pPr algn="l" marL="723002" indent="-361501" lvl="1">
              <a:lnSpc>
                <a:spcPts val="4688"/>
              </a:lnSpc>
              <a:buFont typeface="Arial"/>
              <a:buChar char="•"/>
            </a:pP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Module installable depuis Apps Odoo</a:t>
            </a:r>
          </a:p>
          <a:p>
            <a:pPr algn="l" marL="0" indent="0" lvl="0">
              <a:lnSpc>
                <a:spcPts val="4688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41570" y="5835360"/>
            <a:ext cx="10868941" cy="4211714"/>
          </a:xfrm>
          <a:custGeom>
            <a:avLst/>
            <a:gdLst/>
            <a:ahLst/>
            <a:cxnLst/>
            <a:rect r="r" b="b" t="t" l="l"/>
            <a:pathLst>
              <a:path h="4211714" w="10868941">
                <a:moveTo>
                  <a:pt x="0" y="0"/>
                </a:moveTo>
                <a:lnTo>
                  <a:pt x="10868941" y="0"/>
                </a:lnTo>
                <a:lnTo>
                  <a:pt x="10868941" y="4211715"/>
                </a:lnTo>
                <a:lnTo>
                  <a:pt x="0" y="42117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4383" y="6325812"/>
            <a:ext cx="4902453" cy="2577742"/>
          </a:xfrm>
          <a:custGeom>
            <a:avLst/>
            <a:gdLst/>
            <a:ahLst/>
            <a:cxnLst/>
            <a:rect r="r" b="b" t="t" l="l"/>
            <a:pathLst>
              <a:path h="2577742" w="4902453">
                <a:moveTo>
                  <a:pt x="0" y="0"/>
                </a:moveTo>
                <a:lnTo>
                  <a:pt x="4902453" y="0"/>
                </a:lnTo>
                <a:lnTo>
                  <a:pt x="4902453" y="2577742"/>
                </a:lnTo>
                <a:lnTo>
                  <a:pt x="0" y="25777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17956" y="6325812"/>
            <a:ext cx="2652088" cy="2736091"/>
          </a:xfrm>
          <a:custGeom>
            <a:avLst/>
            <a:gdLst/>
            <a:ahLst/>
            <a:cxnLst/>
            <a:rect r="r" b="b" t="t" l="l"/>
            <a:pathLst>
              <a:path h="2736091" w="2652088">
                <a:moveTo>
                  <a:pt x="0" y="0"/>
                </a:moveTo>
                <a:lnTo>
                  <a:pt x="2652088" y="0"/>
                </a:lnTo>
                <a:lnTo>
                  <a:pt x="2652088" y="2736091"/>
                </a:lnTo>
                <a:lnTo>
                  <a:pt x="0" y="2736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85825"/>
            <a:ext cx="13422789" cy="120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65"/>
              </a:lnSpc>
              <a:spcBef>
                <a:spcPct val="0"/>
              </a:spcBef>
            </a:pPr>
            <a:r>
              <a:rPr lang="en-US" b="true" sz="6975">
                <a:solidFill>
                  <a:srgbClr val="0E085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Environnemen</a:t>
            </a:r>
            <a:r>
              <a:rPr lang="en-US" b="true" sz="6975" u="none">
                <a:solidFill>
                  <a:srgbClr val="0E085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 Docker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696121"/>
            <a:ext cx="15035744" cy="2943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3002" indent="-361501" lvl="1">
              <a:lnSpc>
                <a:spcPts val="4688"/>
              </a:lnSpc>
              <a:buFont typeface="Arial"/>
              <a:buChar char="•"/>
            </a:pP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Odoo + PostgreSQL lancés via docker-compose</a:t>
            </a:r>
          </a:p>
          <a:p>
            <a:pPr algn="l" marL="723002" indent="-361501" lvl="1">
              <a:lnSpc>
                <a:spcPts val="4688"/>
              </a:lnSpc>
              <a:buFont typeface="Arial"/>
              <a:buChar char="•"/>
            </a:pP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ucun logiciel i</a:t>
            </a: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nstallé localement</a:t>
            </a:r>
          </a:p>
          <a:p>
            <a:pPr algn="l" marL="723002" indent="-361501" lvl="1">
              <a:lnSpc>
                <a:spcPts val="4688"/>
              </a:lnSpc>
              <a:buFont typeface="Arial"/>
              <a:buChar char="•"/>
            </a:pP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Mo</a:t>
            </a: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dules chargés depuis /addons</a:t>
            </a:r>
          </a:p>
          <a:p>
            <a:pPr algn="l" marL="723002" indent="-361501" lvl="1">
              <a:lnSpc>
                <a:spcPts val="4688"/>
              </a:lnSpc>
              <a:buFont typeface="Arial"/>
              <a:buChar char="•"/>
            </a:pP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Accès depuis : http://localhost:8069</a:t>
            </a:r>
          </a:p>
          <a:p>
            <a:pPr algn="l" marL="0" indent="0" lvl="0">
              <a:lnSpc>
                <a:spcPts val="4688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979249" y="6325812"/>
            <a:ext cx="3479473" cy="2635386"/>
          </a:xfrm>
          <a:custGeom>
            <a:avLst/>
            <a:gdLst/>
            <a:ahLst/>
            <a:cxnLst/>
            <a:rect r="r" b="b" t="t" l="l"/>
            <a:pathLst>
              <a:path h="2635386" w="3479473">
                <a:moveTo>
                  <a:pt x="0" y="0"/>
                </a:moveTo>
                <a:lnTo>
                  <a:pt x="3479473" y="0"/>
                </a:lnTo>
                <a:lnTo>
                  <a:pt x="3479473" y="2635386"/>
                </a:lnTo>
                <a:lnTo>
                  <a:pt x="0" y="26353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014" r="0" b="-16014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85825"/>
            <a:ext cx="13422789" cy="120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65"/>
              </a:lnSpc>
              <a:spcBef>
                <a:spcPct val="0"/>
              </a:spcBef>
            </a:pPr>
            <a:r>
              <a:rPr lang="en-US" b="true" sz="6975">
                <a:solidFill>
                  <a:srgbClr val="0E085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Tes</a:t>
            </a:r>
            <a:r>
              <a:rPr lang="en-US" b="true" sz="6975" u="none">
                <a:solidFill>
                  <a:srgbClr val="0E085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ts effectués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696121"/>
            <a:ext cx="15035744" cy="5306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3002" indent="-361501" lvl="1">
              <a:lnSpc>
                <a:spcPts val="4688"/>
              </a:lnSpc>
              <a:buFont typeface="Arial"/>
              <a:buChar char="•"/>
            </a:pPr>
            <a:r>
              <a:rPr lang="en-US" b="true" sz="3348">
                <a:solidFill>
                  <a:srgbClr val="0E085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Cas favorables :</a:t>
            </a:r>
          </a:p>
          <a:p>
            <a:pPr algn="l" marL="723002" indent="-361501" lvl="1">
              <a:lnSpc>
                <a:spcPts val="4688"/>
              </a:lnSpc>
              <a:buFont typeface="Arial"/>
              <a:buChar char="•"/>
            </a:pP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Texte positif → sentiment positif</a:t>
            </a:r>
          </a:p>
          <a:p>
            <a:pPr algn="l" marL="723002" indent="-361501" lvl="1">
              <a:lnSpc>
                <a:spcPts val="4688"/>
              </a:lnSpc>
              <a:buFont typeface="Arial"/>
              <a:buChar char="•"/>
            </a:pP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Texte négatif → sentiment négatif</a:t>
            </a:r>
          </a:p>
          <a:p>
            <a:pPr algn="l" marL="723002" indent="-361501" lvl="1">
              <a:lnSpc>
                <a:spcPts val="4688"/>
              </a:lnSpc>
              <a:buFont typeface="Arial"/>
              <a:buChar char="•"/>
            </a:pP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Texte </a:t>
            </a: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neutre → sentiment neutre</a:t>
            </a:r>
          </a:p>
          <a:p>
            <a:pPr algn="l" marL="723002" indent="-361501" lvl="1">
              <a:lnSpc>
                <a:spcPts val="4688"/>
              </a:lnSpc>
              <a:buFont typeface="Arial"/>
              <a:buChar char="•"/>
            </a:pPr>
            <a:r>
              <a:rPr lang="en-US" b="true" sz="3348">
                <a:solidFill>
                  <a:srgbClr val="0E085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Cas défavorables :</a:t>
            </a:r>
          </a:p>
          <a:p>
            <a:pPr algn="l" marL="723002" indent="-361501" lvl="1">
              <a:lnSpc>
                <a:spcPts val="4688"/>
              </a:lnSpc>
              <a:buFont typeface="Arial"/>
              <a:buChar char="•"/>
            </a:pP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Description vide</a:t>
            </a:r>
          </a:p>
          <a:p>
            <a:pPr algn="l" marL="723002" indent="-361501" lvl="1">
              <a:lnSpc>
                <a:spcPts val="4688"/>
              </a:lnSpc>
              <a:buFont typeface="Arial"/>
              <a:buChar char="•"/>
            </a:pP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Orthographe incorrecte</a:t>
            </a:r>
          </a:p>
          <a:p>
            <a:pPr algn="l" marL="723002" indent="-361501" lvl="1">
              <a:lnSpc>
                <a:spcPts val="4688"/>
              </a:lnSpc>
              <a:buFont typeface="Arial"/>
              <a:buChar char="•"/>
            </a:pP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Textes ambigus</a:t>
            </a:r>
          </a:p>
          <a:p>
            <a:pPr algn="l" marL="0" indent="0" lvl="0">
              <a:lnSpc>
                <a:spcPts val="468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85825"/>
            <a:ext cx="13422789" cy="120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65"/>
              </a:lnSpc>
              <a:spcBef>
                <a:spcPct val="0"/>
              </a:spcBef>
            </a:pPr>
            <a:r>
              <a:rPr lang="en-US" b="true" sz="6975">
                <a:solidFill>
                  <a:srgbClr val="0E085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Limi</a:t>
            </a:r>
            <a:r>
              <a:rPr lang="en-US" b="true" sz="6975" u="none">
                <a:solidFill>
                  <a:srgbClr val="0E085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tes &amp; Améliorations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696121"/>
            <a:ext cx="15035744" cy="4124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3002" indent="-361501" lvl="1">
              <a:lnSpc>
                <a:spcPts val="4688"/>
              </a:lnSpc>
              <a:buFont typeface="Arial"/>
              <a:buChar char="•"/>
            </a:pP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Analyse basée sur mots-clés → précision limitée</a:t>
            </a:r>
          </a:p>
          <a:p>
            <a:pPr algn="l" marL="723002" indent="-361501" lvl="1">
              <a:lnSpc>
                <a:spcPts val="4688"/>
              </a:lnSpc>
              <a:buFont typeface="Arial"/>
              <a:buChar char="•"/>
            </a:pP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Pas d’analyse multilingue</a:t>
            </a:r>
          </a:p>
          <a:p>
            <a:pPr algn="l">
              <a:lnSpc>
                <a:spcPts val="4688"/>
              </a:lnSpc>
            </a:pP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Améliorations possibles :</a:t>
            </a:r>
          </a:p>
          <a:p>
            <a:pPr algn="l" marL="723002" indent="-361501" lvl="1">
              <a:lnSpc>
                <a:spcPts val="4688"/>
              </a:lnSpc>
              <a:buFont typeface="Arial"/>
              <a:buChar char="•"/>
            </a:pP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Intégration API IA (OpenAI, HuggingFace)</a:t>
            </a:r>
          </a:p>
          <a:p>
            <a:pPr algn="l" marL="723002" indent="-361501" lvl="1">
              <a:lnSpc>
                <a:spcPts val="4688"/>
              </a:lnSpc>
              <a:buFont typeface="Arial"/>
              <a:buChar char="•"/>
            </a:pP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Modèle NLP multilingue</a:t>
            </a:r>
          </a:p>
          <a:p>
            <a:pPr algn="l" marL="723002" indent="-361501" lvl="1">
              <a:lnSpc>
                <a:spcPts val="4688"/>
              </a:lnSpc>
              <a:buFont typeface="Arial"/>
              <a:buChar char="•"/>
            </a:pPr>
            <a:r>
              <a:rPr lang="en-US" sz="3348">
                <a:solidFill>
                  <a:srgbClr val="0E0857"/>
                </a:solidFill>
                <a:latin typeface="Public Sans"/>
                <a:ea typeface="Public Sans"/>
                <a:cs typeface="Public Sans"/>
                <a:sym typeface="Public Sans"/>
              </a:rPr>
              <a:t>Statistiques globales des tickets</a:t>
            </a:r>
          </a:p>
          <a:p>
            <a:pPr algn="l" marL="0" indent="0" lvl="0">
              <a:lnSpc>
                <a:spcPts val="468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E08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5053" y="4456747"/>
            <a:ext cx="12377895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869"/>
              </a:lnSpc>
              <a:spcBef>
                <a:spcPct val="0"/>
              </a:spcBef>
            </a:pPr>
            <a:r>
              <a:rPr lang="en-US" b="true" sz="7050">
                <a:solidFill>
                  <a:srgbClr val="F6F6F6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Merci.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DAG7BeOfJWQ</dc:identifier>
  <dcterms:modified xsi:type="dcterms:W3CDTF">2011-08-01T06:04:30Z</dcterms:modified>
  <cp:revision>1</cp:revision>
  <dc:title>PPT_ODOO_AZZMANNOURELIMANE</dc:title>
</cp:coreProperties>
</file>